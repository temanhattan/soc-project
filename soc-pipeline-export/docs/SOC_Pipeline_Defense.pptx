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426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strong hook: this is a real, operational SOC, not a diagram exercise. State the one-sentence thesis: an end-to-end open-source detection, orchestration, and case-management pipeline engineered under a strict 16GB laptop budget. Introduce yourself and the course context briefly, then move to the problem. Timing: 30-45s. Likely question: why build this instead of using a cloud SOC trial. Answer: the goal was to understand and engineer every integration point by hand, including the failure modes.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enterprise SOC reference architectures assume dedicated servers, not a single laptop shared with the hypervisor and browser. Emphasize the RAM math: 16GB total, minus what the host OS and VMware need, leaves very little for two VMs plus 6+ services. Common question: why not just use a cloud lab or free-tier SaaS SIEM? Answer: the objective was hands-on engineering of the full stack, including its constraints, not consuming a managed product.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requirements as design constraints, not just a wish list, each one forced a specific architectural choice discussed later. Point out that MITRE mapping and SLA enforcement are what separate this from a toy lab. Likely question: how did you decide on SLA time windows? Answer: based on industry-standard SOC SLA tiers, scaled to the technique's real-world urgency, e.g. credential dumping is Critical with a 15-minute acknowledge target.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blueprint slide: open-source only, hybrid deployment, cloud threat intel, and a rule-to-SLA pipeline. Point at the SLA matrix and note that severity is not arbitrary, it is tied directly to attacker technique. Likely question: what happens when nothing hits a rule? Answer: no alert is generated, this is precision detection, not blanket logging; future work adds detection-gap validation to catch that failure mode.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architecture diagram, spend real time here. Point to each VM and its resource allocation, then trace the arrow: Sysmon on Windows forwards to the Wazuh Agent, which reports to the Wazuh Manager on the Ubuntu backend. Mention static IP addressing keeps the lab reproducible. Likely question: why split RAM 8GB/4GB instead of evenly? Answer: the backend runs six services simultaneously and needs the larger share; the endpoint only needs to run Sysmon and occasional Atomic Red Team scripts.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hybrid deployment as a lesson learned, not the original plan: Wazuh was originally meant to be containerized like everything else, but SSL certificate issues forced a native install. Mention the two SSD-protection settings, useNamedFile=FALSE and swappiness=1, as deliberate hardware-preservation engineering. Likely question: doesn't running Wazuh natively break your all-Docker consistency? Answer: yes, and that's an explicit tradeoff, documented as a design decision on a later slide, stability outweighed consistency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the table quickly, this is reference material, not the story. Spend the most time on the 'Dropped' callout: MISP and Cortex were in the original plan but were cut for RAM reasons. Likely question: what would you gain back by adding MISP later? Answer: a private, queryable IOC history rather than depending entirely on external API rate limits, worth revisiting once hardware allows.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this diagram left to right as the literal path one alert takes. Emphasize the Python Integration step, this is where Wazuh hands off to the SOAR, and it's a custom script, not an out-of-the-box connector. Likely question: what happens if Shuffle is down when Wazuh tries to send an alert? Answer: the Python script has an exponential backoff retry loop, three attempts with increasing delay, before giving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core professors will probe hardest. Walk through one rule end-to-end, e.g. T1003.001 LSASS access: explain the Sigma-style logic behind rule 100010 and why it's mapped to Level 12. Likely question: why two separate rules (100010, 100011) for the same technique? Answer: they catch two distinct attack surfaces for the same technique, direct LSASS process access versus the comsvcs.dll MiniDump living-off-the-land method, both needed for coverage.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Regex node first since it's the least obvious but most critical piece, without it, Windows file paths crash the JSON parser downstream. Then walk the enrichment step and the final POST to TheHive. Likely question: why not let TheHive's own Shuffle connector do this? Answer: covered in the Engineering Challenges slide, the graphical connector had a placeholder bug that broke JSON parsing; the raw HTTP node was a deliberate workaround.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issues are the heart of the engineering story, don't rush this slide. For each: state the symptom exactly as it appeared in logs, the root cause, and the fix, in that order, it shows systematic debugging rather than guesswork. Likely question: which of these took the longest to resolve? Answer: be honest based on your own experience, likely the JSON escaping issue or the Wazuh SSL mismatch, since both required tracing the failure across two different systems.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'why' behind every choice on the previous slides, treat it as the reasoning summary. Emphasize that each decision was a direct response to a concrete failure, not a preference. Likely question: if you had more RAM available, would you make the same choices? Answer: probably keep the HTTP node and cloud threat intel regardless, since they're more reliable, but might reconsider MISP and containerized Wazuh once certificate issues are resolved upstream.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live demo is possible, this is the slide to transition into it: trigger whoami or an Atomic Red Team technique on the Windows VM, then show the alert landing in TheHive in real time. If demoing live isn't possible, walk through screenshots in this exact order: Wazuh alert, Shuffle execution log, TheHive alert. Likely question: how long does the full pipeline take end-to-end? Answer: near real-time, typically a few seconds from Sysmon event to TheHive alert, since there's no batching in the pipeline.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engineering maturity, showing you know the limitations of your own system is a strength, not a weakness. Be direct about the OpenSearch security-plugin-disabled decision, it's the one a security-minded examiner will flag immediately, so get ahead of it. Likely question: isn't disabling OpenSearch security a serious vulnerability? Answer: yes, explicitly acknowledged, it is only acceptable because this is an isolated, air-gapped lab network with no external exposure; it would be unacceptable in any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realistic next-phase plan, not vague aspiration, each phase has a concrete deliverable. Highlight Phase 4, continuous validation, as the most valuable next step since it turns the lab from a one-time demo into an ongoing detection-quality feedback loop. Likely question: which phase would you tackle first? Answer: likely Phase 2, scaling detection rules, since it directly increases MITRE coverage with the least new infrastructure 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back to the opening thesis: a hardware-constrained laptop now runs a genuinely functional SOC pipeline. Reiterate that the value of the project is in the engineering decisions and the debugging, not just the final green checkmarks. Keep this brief, 30-45 seconds, and transition directly into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6.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1517904" y="0"/>
            <a:ext cx="0" cy="6858000"/>
          </a:xfrm>
          <a:prstGeom prst="line">
            <a:avLst/>
          </a:prstGeom>
          <a:noFill/>
          <a:ln w="9525">
            <a:solidFill>
              <a:srgbClr val="10192B"/>
            </a:solidFill>
            <a:prstDash val="solid"/>
          </a:ln>
        </p:spPr>
        <p:txBody>
          <a:bodyPr/>
          <a:lstStyle/>
          <a:p>
            <a:endParaRPr lang="en-US"/>
          </a:p>
        </p:txBody>
      </p:sp>
      <p:sp>
        <p:nvSpPr>
          <p:cNvPr id="3" name="Shape 1"/>
          <p:cNvSpPr/>
          <p:nvPr/>
        </p:nvSpPr>
        <p:spPr>
          <a:xfrm>
            <a:off x="3035808" y="0"/>
            <a:ext cx="0" cy="6858000"/>
          </a:xfrm>
          <a:prstGeom prst="line">
            <a:avLst/>
          </a:prstGeom>
          <a:noFill/>
          <a:ln w="9525">
            <a:solidFill>
              <a:srgbClr val="10192B"/>
            </a:solidFill>
            <a:prstDash val="solid"/>
          </a:ln>
        </p:spPr>
        <p:txBody>
          <a:bodyPr/>
          <a:lstStyle/>
          <a:p>
            <a:endParaRPr lang="en-US"/>
          </a:p>
        </p:txBody>
      </p:sp>
      <p:sp>
        <p:nvSpPr>
          <p:cNvPr id="4" name="Shape 2"/>
          <p:cNvSpPr/>
          <p:nvPr/>
        </p:nvSpPr>
        <p:spPr>
          <a:xfrm>
            <a:off x="4553712" y="0"/>
            <a:ext cx="0" cy="6858000"/>
          </a:xfrm>
          <a:prstGeom prst="line">
            <a:avLst/>
          </a:prstGeom>
          <a:noFill/>
          <a:ln w="9525">
            <a:solidFill>
              <a:srgbClr val="10192B"/>
            </a:solidFill>
            <a:prstDash val="solid"/>
          </a:ln>
        </p:spPr>
        <p:txBody>
          <a:bodyPr/>
          <a:lstStyle/>
          <a:p>
            <a:endParaRPr lang="en-US"/>
          </a:p>
        </p:txBody>
      </p:sp>
      <p:sp>
        <p:nvSpPr>
          <p:cNvPr id="5" name="Shape 3"/>
          <p:cNvSpPr/>
          <p:nvPr/>
        </p:nvSpPr>
        <p:spPr>
          <a:xfrm>
            <a:off x="6071616" y="0"/>
            <a:ext cx="0" cy="6858000"/>
          </a:xfrm>
          <a:prstGeom prst="line">
            <a:avLst/>
          </a:prstGeom>
          <a:noFill/>
          <a:ln w="9525">
            <a:solidFill>
              <a:srgbClr val="10192B"/>
            </a:solidFill>
            <a:prstDash val="solid"/>
          </a:ln>
        </p:spPr>
        <p:txBody>
          <a:bodyPr/>
          <a:lstStyle/>
          <a:p>
            <a:endParaRPr lang="en-US"/>
          </a:p>
        </p:txBody>
      </p:sp>
      <p:sp>
        <p:nvSpPr>
          <p:cNvPr id="6" name="Shape 4"/>
          <p:cNvSpPr/>
          <p:nvPr/>
        </p:nvSpPr>
        <p:spPr>
          <a:xfrm>
            <a:off x="7589520" y="0"/>
            <a:ext cx="0" cy="6858000"/>
          </a:xfrm>
          <a:prstGeom prst="line">
            <a:avLst/>
          </a:prstGeom>
          <a:noFill/>
          <a:ln w="9525">
            <a:solidFill>
              <a:srgbClr val="10192B"/>
            </a:solidFill>
            <a:prstDash val="solid"/>
          </a:ln>
        </p:spPr>
        <p:txBody>
          <a:bodyPr/>
          <a:lstStyle/>
          <a:p>
            <a:endParaRPr lang="en-US"/>
          </a:p>
        </p:txBody>
      </p:sp>
      <p:sp>
        <p:nvSpPr>
          <p:cNvPr id="7" name="Shape 5"/>
          <p:cNvSpPr/>
          <p:nvPr/>
        </p:nvSpPr>
        <p:spPr>
          <a:xfrm>
            <a:off x="9107424" y="0"/>
            <a:ext cx="0" cy="6858000"/>
          </a:xfrm>
          <a:prstGeom prst="line">
            <a:avLst/>
          </a:prstGeom>
          <a:noFill/>
          <a:ln w="9525">
            <a:solidFill>
              <a:srgbClr val="10192B"/>
            </a:solidFill>
            <a:prstDash val="solid"/>
          </a:ln>
        </p:spPr>
        <p:txBody>
          <a:bodyPr/>
          <a:lstStyle/>
          <a:p>
            <a:endParaRPr lang="en-US"/>
          </a:p>
        </p:txBody>
      </p:sp>
      <p:sp>
        <p:nvSpPr>
          <p:cNvPr id="8" name="Shape 6"/>
          <p:cNvSpPr/>
          <p:nvPr/>
        </p:nvSpPr>
        <p:spPr>
          <a:xfrm>
            <a:off x="10625328" y="0"/>
            <a:ext cx="0" cy="6858000"/>
          </a:xfrm>
          <a:prstGeom prst="line">
            <a:avLst/>
          </a:prstGeom>
          <a:noFill/>
          <a:ln w="9525">
            <a:solidFill>
              <a:srgbClr val="10192B"/>
            </a:solidFill>
            <a:prstDash val="solid"/>
          </a:ln>
        </p:spPr>
        <p:txBody>
          <a:bodyPr/>
          <a:lstStyle/>
          <a:p>
            <a:endParaRPr lang="en-US"/>
          </a:p>
        </p:txBody>
      </p:sp>
      <p:sp>
        <p:nvSpPr>
          <p:cNvPr id="9" name="Shape 7"/>
          <p:cNvSpPr/>
          <p:nvPr/>
        </p:nvSpPr>
        <p:spPr>
          <a:xfrm>
            <a:off x="822960" y="777240"/>
            <a:ext cx="914400" cy="914400"/>
          </a:xfrm>
          <a:prstGeom prst="ellipse">
            <a:avLst/>
          </a:prstGeom>
          <a:solidFill>
            <a:srgbClr val="16233B"/>
          </a:solidFill>
          <a:ln w="12700">
            <a:solidFill>
              <a:srgbClr val="22314D"/>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060704" y="1014984"/>
            <a:ext cx="438912" cy="438912"/>
          </a:xfrm>
          <a:prstGeom prst="rect">
            <a:avLst/>
          </a:prstGeom>
        </p:spPr>
      </p:pic>
      <p:sp>
        <p:nvSpPr>
          <p:cNvPr id="11" name="Text 8"/>
          <p:cNvSpPr/>
          <p:nvPr/>
        </p:nvSpPr>
        <p:spPr>
          <a:xfrm>
            <a:off x="822960" y="1965960"/>
            <a:ext cx="9144000" cy="320040"/>
          </a:xfrm>
          <a:prstGeom prst="rect">
            <a:avLst/>
          </a:prstGeom>
          <a:noFill/>
          <a:ln/>
        </p:spPr>
        <p:txBody>
          <a:bodyPr wrap="square" lIns="0" tIns="0" rIns="0" bIns="0" rtlCol="0" anchor="ctr"/>
          <a:lstStyle/>
          <a:p>
            <a:pPr marL="0" indent="0">
              <a:buNone/>
            </a:pPr>
            <a:r>
              <a:rPr lang="en-US" sz="1400" b="1" kern="0" spc="300" dirty="0">
                <a:solidFill>
                  <a:srgbClr val="22D3EE"/>
                </a:solidFill>
                <a:latin typeface="Calibri" pitchFamily="34" charset="0"/>
                <a:ea typeface="Calibri" pitchFamily="34" charset="-122"/>
                <a:cs typeface="Calibri" pitchFamily="34" charset="-120"/>
              </a:rPr>
              <a:t>GRADUATION PROJECT DEFENSE</a:t>
            </a:r>
            <a:endParaRPr lang="en-US" sz="1400" dirty="0"/>
          </a:p>
        </p:txBody>
      </p:sp>
      <p:sp>
        <p:nvSpPr>
          <p:cNvPr id="12" name="Text 9"/>
          <p:cNvSpPr/>
          <p:nvPr/>
        </p:nvSpPr>
        <p:spPr>
          <a:xfrm>
            <a:off x="777240" y="2331720"/>
            <a:ext cx="10515600" cy="118872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Open-Source SOC Pipeline</a:t>
            </a:r>
            <a:endParaRPr lang="en-US" sz="5000" dirty="0"/>
          </a:p>
        </p:txBody>
      </p:sp>
      <p:sp>
        <p:nvSpPr>
          <p:cNvPr id="13" name="Text 10"/>
          <p:cNvSpPr/>
          <p:nvPr/>
        </p:nvSpPr>
        <p:spPr>
          <a:xfrm>
            <a:off x="822960" y="3383280"/>
            <a:ext cx="9692640" cy="548640"/>
          </a:xfrm>
          <a:prstGeom prst="rect">
            <a:avLst/>
          </a:prstGeom>
          <a:noFill/>
          <a:ln/>
        </p:spPr>
        <p:txBody>
          <a:bodyPr wrap="square" lIns="0" tIns="0" rIns="0" bIns="0" rtlCol="0" anchor="ctr"/>
          <a:lstStyle/>
          <a:p>
            <a:pPr marL="0" indent="0">
              <a:buNone/>
            </a:pPr>
            <a:r>
              <a:rPr lang="en-US" sz="1600" i="1" dirty="0">
                <a:solidFill>
                  <a:srgbClr val="8CA0BC"/>
                </a:solidFill>
                <a:latin typeface="Calibri" pitchFamily="34" charset="0"/>
                <a:ea typeface="Calibri" pitchFamily="34" charset="-122"/>
                <a:cs typeface="Calibri" pitchFamily="34" charset="-120"/>
              </a:rPr>
              <a:t>Engineering an End-to-End Threat Detection, Orchestration, and Case Management Lab Under Real Hardware Constraints</a:t>
            </a:r>
            <a:endParaRPr lang="en-US" sz="1600" dirty="0"/>
          </a:p>
        </p:txBody>
      </p:sp>
      <p:sp>
        <p:nvSpPr>
          <p:cNvPr id="14" name="Shape 11"/>
          <p:cNvSpPr/>
          <p:nvPr/>
        </p:nvSpPr>
        <p:spPr>
          <a:xfrm>
            <a:off x="822960" y="4114800"/>
            <a:ext cx="3840480" cy="0"/>
          </a:xfrm>
          <a:prstGeom prst="line">
            <a:avLst/>
          </a:prstGeom>
          <a:noFill/>
          <a:ln w="12700">
            <a:solidFill>
              <a:srgbClr val="22314D"/>
            </a:solidFill>
            <a:prstDash val="solid"/>
          </a:ln>
        </p:spPr>
        <p:txBody>
          <a:bodyPr/>
          <a:lstStyle/>
          <a:p>
            <a:endParaRPr lang="en-US"/>
          </a:p>
        </p:txBody>
      </p:sp>
      <p:sp>
        <p:nvSpPr>
          <p:cNvPr id="15" name="Shape 12"/>
          <p:cNvSpPr/>
          <p:nvPr/>
        </p:nvSpPr>
        <p:spPr>
          <a:xfrm>
            <a:off x="822960" y="4343400"/>
            <a:ext cx="777240" cy="329184"/>
          </a:xfrm>
          <a:prstGeom prst="roundRect">
            <a:avLst>
              <a:gd name="adj" fmla="val 50000"/>
            </a:avLst>
          </a:prstGeom>
          <a:solidFill>
            <a:srgbClr val="16233B"/>
          </a:solidFill>
          <a:ln/>
        </p:spPr>
        <p:txBody>
          <a:bodyPr/>
          <a:lstStyle/>
          <a:p>
            <a:endParaRPr lang="en-US"/>
          </a:p>
        </p:txBody>
      </p:sp>
      <p:sp>
        <p:nvSpPr>
          <p:cNvPr id="16" name="Text 13"/>
          <p:cNvSpPr/>
          <p:nvPr/>
        </p:nvSpPr>
        <p:spPr>
          <a:xfrm>
            <a:off x="822960" y="4343400"/>
            <a:ext cx="77724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Wazuh</a:t>
            </a:r>
            <a:endParaRPr lang="en-US" sz="1100" dirty="0"/>
          </a:p>
        </p:txBody>
      </p:sp>
      <p:sp>
        <p:nvSpPr>
          <p:cNvPr id="17" name="Shape 14"/>
          <p:cNvSpPr/>
          <p:nvPr/>
        </p:nvSpPr>
        <p:spPr>
          <a:xfrm>
            <a:off x="1764792" y="4343400"/>
            <a:ext cx="960120" cy="329184"/>
          </a:xfrm>
          <a:prstGeom prst="roundRect">
            <a:avLst>
              <a:gd name="adj" fmla="val 50000"/>
            </a:avLst>
          </a:prstGeom>
          <a:solidFill>
            <a:srgbClr val="16233B"/>
          </a:solidFill>
          <a:ln/>
        </p:spPr>
        <p:txBody>
          <a:bodyPr/>
          <a:lstStyle/>
          <a:p>
            <a:endParaRPr lang="en-US"/>
          </a:p>
        </p:txBody>
      </p:sp>
      <p:sp>
        <p:nvSpPr>
          <p:cNvPr id="18" name="Text 15"/>
          <p:cNvSpPr/>
          <p:nvPr/>
        </p:nvSpPr>
        <p:spPr>
          <a:xfrm>
            <a:off x="1764792" y="4343400"/>
            <a:ext cx="96012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Shuffle</a:t>
            </a:r>
            <a:endParaRPr lang="en-US" sz="1100" dirty="0"/>
          </a:p>
        </p:txBody>
      </p:sp>
      <p:sp>
        <p:nvSpPr>
          <p:cNvPr id="19" name="Shape 16"/>
          <p:cNvSpPr/>
          <p:nvPr/>
        </p:nvSpPr>
        <p:spPr>
          <a:xfrm>
            <a:off x="2889504" y="4343400"/>
            <a:ext cx="960120" cy="329184"/>
          </a:xfrm>
          <a:prstGeom prst="roundRect">
            <a:avLst>
              <a:gd name="adj" fmla="val 50000"/>
            </a:avLst>
          </a:prstGeom>
          <a:solidFill>
            <a:srgbClr val="16233B"/>
          </a:solidFill>
          <a:ln/>
        </p:spPr>
        <p:txBody>
          <a:bodyPr/>
          <a:lstStyle/>
          <a:p>
            <a:endParaRPr lang="en-US"/>
          </a:p>
        </p:txBody>
      </p:sp>
      <p:sp>
        <p:nvSpPr>
          <p:cNvPr id="20" name="Text 17"/>
          <p:cNvSpPr/>
          <p:nvPr/>
        </p:nvSpPr>
        <p:spPr>
          <a:xfrm>
            <a:off x="2889504" y="4343400"/>
            <a:ext cx="96012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TheHive</a:t>
            </a:r>
            <a:endParaRPr lang="en-US" sz="1100" dirty="0"/>
          </a:p>
        </p:txBody>
      </p:sp>
      <p:sp>
        <p:nvSpPr>
          <p:cNvPr id="21" name="Shape 18"/>
          <p:cNvSpPr/>
          <p:nvPr/>
        </p:nvSpPr>
        <p:spPr>
          <a:xfrm>
            <a:off x="4014216" y="4343400"/>
            <a:ext cx="868680" cy="329184"/>
          </a:xfrm>
          <a:prstGeom prst="roundRect">
            <a:avLst>
              <a:gd name="adj" fmla="val 50000"/>
            </a:avLst>
          </a:prstGeom>
          <a:solidFill>
            <a:srgbClr val="16233B"/>
          </a:solidFill>
          <a:ln/>
        </p:spPr>
        <p:txBody>
          <a:bodyPr/>
          <a:lstStyle/>
          <a:p>
            <a:endParaRPr lang="en-US"/>
          </a:p>
        </p:txBody>
      </p:sp>
      <p:sp>
        <p:nvSpPr>
          <p:cNvPr id="22" name="Text 19"/>
          <p:cNvSpPr/>
          <p:nvPr/>
        </p:nvSpPr>
        <p:spPr>
          <a:xfrm>
            <a:off x="4014216" y="4343400"/>
            <a:ext cx="86868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Sysmon</a:t>
            </a:r>
            <a:endParaRPr lang="en-US" sz="1100" dirty="0"/>
          </a:p>
        </p:txBody>
      </p:sp>
      <p:sp>
        <p:nvSpPr>
          <p:cNvPr id="23" name="Shape 20"/>
          <p:cNvSpPr/>
          <p:nvPr/>
        </p:nvSpPr>
        <p:spPr>
          <a:xfrm>
            <a:off x="5047488" y="4343400"/>
            <a:ext cx="1417320" cy="329184"/>
          </a:xfrm>
          <a:prstGeom prst="roundRect">
            <a:avLst>
              <a:gd name="adj" fmla="val 50000"/>
            </a:avLst>
          </a:prstGeom>
          <a:solidFill>
            <a:srgbClr val="16233B"/>
          </a:solidFill>
          <a:ln/>
        </p:spPr>
        <p:txBody>
          <a:bodyPr/>
          <a:lstStyle/>
          <a:p>
            <a:endParaRPr lang="en-US"/>
          </a:p>
        </p:txBody>
      </p:sp>
      <p:sp>
        <p:nvSpPr>
          <p:cNvPr id="24" name="Text 21"/>
          <p:cNvSpPr/>
          <p:nvPr/>
        </p:nvSpPr>
        <p:spPr>
          <a:xfrm>
            <a:off x="5047488" y="4343400"/>
            <a:ext cx="141732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MITRE ATT&amp;CK</a:t>
            </a:r>
            <a:endParaRPr lang="en-US" sz="1100" dirty="0"/>
          </a:p>
        </p:txBody>
      </p:sp>
      <p:sp>
        <p:nvSpPr>
          <p:cNvPr id="25" name="Shape 22"/>
          <p:cNvSpPr/>
          <p:nvPr/>
        </p:nvSpPr>
        <p:spPr>
          <a:xfrm>
            <a:off x="6629400" y="4343400"/>
            <a:ext cx="1600200" cy="329184"/>
          </a:xfrm>
          <a:prstGeom prst="roundRect">
            <a:avLst>
              <a:gd name="adj" fmla="val 50000"/>
            </a:avLst>
          </a:prstGeom>
          <a:solidFill>
            <a:srgbClr val="16233B"/>
          </a:solidFill>
          <a:ln/>
        </p:spPr>
        <p:txBody>
          <a:bodyPr/>
          <a:lstStyle/>
          <a:p>
            <a:endParaRPr lang="en-US"/>
          </a:p>
        </p:txBody>
      </p:sp>
      <p:sp>
        <p:nvSpPr>
          <p:cNvPr id="26" name="Text 23"/>
          <p:cNvSpPr/>
          <p:nvPr/>
        </p:nvSpPr>
        <p:spPr>
          <a:xfrm>
            <a:off x="6629400" y="4343400"/>
            <a:ext cx="1600200" cy="329184"/>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AlienVault OTX</a:t>
            </a:r>
            <a:endParaRPr lang="en-US" sz="1100" dirty="0"/>
          </a:p>
        </p:txBody>
      </p:sp>
      <p:sp>
        <p:nvSpPr>
          <p:cNvPr id="28" name="Text 25"/>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9" name="Text 26"/>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01</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THE PROBLEM</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This Project Exists</a:t>
            </a:r>
            <a:endParaRPr lang="en-US" sz="3000" dirty="0"/>
          </a:p>
        </p:txBody>
      </p:sp>
      <p:sp>
        <p:nvSpPr>
          <p:cNvPr id="6" name="Text 3"/>
          <p:cNvSpPr/>
          <p:nvPr/>
        </p:nvSpPr>
        <p:spPr>
          <a:xfrm>
            <a:off x="502920" y="1600200"/>
            <a:ext cx="6400800" cy="4206240"/>
          </a:xfrm>
          <a:prstGeom prst="rect">
            <a:avLst/>
          </a:prstGeom>
          <a:noFill/>
          <a:ln/>
        </p:spPr>
        <p:txBody>
          <a:bodyPr wrap="square" rtlCol="0" anchor="t"/>
          <a:lstStyle/>
          <a:p>
            <a:pPr marL="228600" indent="-228600">
              <a:spcAft>
                <a:spcPts val="1200"/>
              </a:spcAft>
              <a:buSzPct val="100000"/>
              <a:buChar char="•"/>
            </a:pPr>
            <a:r>
              <a:rPr lang="en-US" sz="1400" dirty="0">
                <a:solidFill>
                  <a:srgbClr val="E8EEF5"/>
                </a:solidFill>
                <a:latin typeface="Calibri" pitchFamily="34" charset="0"/>
                <a:ea typeface="Calibri" pitchFamily="34" charset="-122"/>
                <a:cs typeface="Calibri" pitchFamily="34" charset="-120"/>
              </a:rPr>
              <a:t>Modern SOC stacks (SIEM + SOAR + Threat Intel + Case Management) are built for enterprise hardware — not a single laptop.</a:t>
            </a:r>
            <a:endParaRPr lang="en-US" sz="1400" dirty="0"/>
          </a:p>
          <a:p>
            <a:pPr marL="228600" indent="-228600">
              <a:spcAft>
                <a:spcPts val="1200"/>
              </a:spcAft>
              <a:buSzPct val="100000"/>
              <a:buChar char="•"/>
            </a:pPr>
            <a:r>
              <a:rPr lang="en-US" sz="1400" dirty="0">
                <a:solidFill>
                  <a:srgbClr val="E8EEF5"/>
                </a:solidFill>
                <a:latin typeface="Calibri" pitchFamily="34" charset="0"/>
                <a:ea typeface="Calibri" pitchFamily="34" charset="-122"/>
                <a:cs typeface="Calibri" pitchFamily="34" charset="-120"/>
              </a:rPr>
              <a:t>Goal: a functional, automated threat detection, orchestration, and case-management lab that runs reliably within strict hardware limits.</a:t>
            </a:r>
            <a:endParaRPr lang="en-US" sz="1400" dirty="0"/>
          </a:p>
          <a:p>
            <a:pPr marL="228600" indent="-228600">
              <a:spcAft>
                <a:spcPts val="1200"/>
              </a:spcAft>
              <a:buSzPct val="100000"/>
              <a:buChar char="•"/>
            </a:pPr>
            <a:r>
              <a:rPr lang="en-US" sz="1400" dirty="0">
                <a:solidFill>
                  <a:srgbClr val="E8EEF5"/>
                </a:solidFill>
                <a:latin typeface="Calibri" pitchFamily="34" charset="0"/>
                <a:ea typeface="Calibri" pitchFamily="34" charset="-122"/>
                <a:cs typeface="Calibri" pitchFamily="34" charset="-120"/>
              </a:rPr>
              <a:t>Constraint: a single 16 GB RAM host laptop, without severely degrading its physical SSD through constant virtual-machine swapping.</a:t>
            </a:r>
            <a:endParaRPr lang="en-US" sz="1400" dirty="0"/>
          </a:p>
          <a:p>
            <a:pPr marL="228600" indent="-228600">
              <a:spcAft>
                <a:spcPts val="1200"/>
              </a:spcAft>
              <a:buSzPct val="100000"/>
              <a:buChar char="•"/>
            </a:pPr>
            <a:r>
              <a:rPr lang="en-US" sz="1400" dirty="0">
                <a:solidFill>
                  <a:srgbClr val="E8EEF5"/>
                </a:solidFill>
                <a:latin typeface="Calibri" pitchFamily="34" charset="0"/>
                <a:ea typeface="Calibri" pitchFamily="34" charset="-122"/>
                <a:cs typeface="Calibri" pitchFamily="34" charset="-120"/>
              </a:rPr>
              <a:t>Standard reference tools (Splunk, MISP, Cortex) assume RAM and storage budgets this environment simply does not have.</a:t>
            </a:r>
            <a:endParaRPr lang="en-US" sz="1400" dirty="0"/>
          </a:p>
        </p:txBody>
      </p:sp>
      <p:sp>
        <p:nvSpPr>
          <p:cNvPr id="7" name="Shape 4"/>
          <p:cNvSpPr/>
          <p:nvPr/>
        </p:nvSpPr>
        <p:spPr>
          <a:xfrm>
            <a:off x="7315200" y="1600200"/>
            <a:ext cx="4343400" cy="4343400"/>
          </a:xfrm>
          <a:prstGeom prst="roundRect">
            <a:avLst>
              <a:gd name="adj" fmla="val 126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8" name="Text 5"/>
          <p:cNvSpPr/>
          <p:nvPr/>
        </p:nvSpPr>
        <p:spPr>
          <a:xfrm>
            <a:off x="7680960" y="1874520"/>
            <a:ext cx="36576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THE CONSTRAINT</a:t>
            </a:r>
            <a:endParaRPr lang="en-US" sz="1200" dirty="0"/>
          </a:p>
        </p:txBody>
      </p:sp>
      <p:sp>
        <p:nvSpPr>
          <p:cNvPr id="9" name="Text 6"/>
          <p:cNvSpPr/>
          <p:nvPr/>
        </p:nvSpPr>
        <p:spPr>
          <a:xfrm>
            <a:off x="7680960" y="2148840"/>
            <a:ext cx="365760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16 GB</a:t>
            </a:r>
            <a:endParaRPr lang="en-US" sz="6000" dirty="0"/>
          </a:p>
        </p:txBody>
      </p:sp>
      <p:sp>
        <p:nvSpPr>
          <p:cNvPr id="10" name="Text 7"/>
          <p:cNvSpPr/>
          <p:nvPr/>
        </p:nvSpPr>
        <p:spPr>
          <a:xfrm>
            <a:off x="7680960" y="3154680"/>
            <a:ext cx="3566160" cy="54864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Total host RAM — shared with the hypervisor, browser, and OS</a:t>
            </a:r>
            <a:endParaRPr lang="en-US" sz="1200" dirty="0"/>
          </a:p>
        </p:txBody>
      </p:sp>
      <p:sp>
        <p:nvSpPr>
          <p:cNvPr id="11" name="Shape 8"/>
          <p:cNvSpPr/>
          <p:nvPr/>
        </p:nvSpPr>
        <p:spPr>
          <a:xfrm>
            <a:off x="7680960" y="3886200"/>
            <a:ext cx="3566160" cy="0"/>
          </a:xfrm>
          <a:prstGeom prst="line">
            <a:avLst/>
          </a:prstGeom>
          <a:noFill/>
          <a:ln w="12700">
            <a:solidFill>
              <a:srgbClr val="22314D"/>
            </a:solidFill>
            <a:prstDash val="solid"/>
          </a:ln>
        </p:spPr>
        <p:txBody>
          <a:bodyPr/>
          <a:lstStyle/>
          <a:p>
            <a:endParaRPr lang="en-US"/>
          </a:p>
        </p:txBody>
      </p:sp>
      <p:sp>
        <p:nvSpPr>
          <p:cNvPr id="12" name="Text 9"/>
          <p:cNvSpPr/>
          <p:nvPr/>
        </p:nvSpPr>
        <p:spPr>
          <a:xfrm>
            <a:off x="7680960" y="4069080"/>
            <a:ext cx="3657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38-50 GB</a:t>
            </a:r>
            <a:endParaRPr lang="en-US" sz="3200" dirty="0"/>
          </a:p>
        </p:txBody>
      </p:sp>
      <p:sp>
        <p:nvSpPr>
          <p:cNvPr id="13" name="Text 10"/>
          <p:cNvSpPr/>
          <p:nvPr/>
        </p:nvSpPr>
        <p:spPr>
          <a:xfrm>
            <a:off x="7680960" y="4709160"/>
            <a:ext cx="3566160" cy="64008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Thin-provisioned disk shared across SIEM + SOAR + Case Mgmt indices</a:t>
            </a:r>
            <a:endParaRPr lang="en-US" sz="1200" dirty="0"/>
          </a:p>
        </p:txBody>
      </p:sp>
      <p:sp>
        <p:nvSpPr>
          <p:cNvPr id="14" name="Text 11"/>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15" name="Text 12"/>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02</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GOALS</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Objectives &amp; Key Requirements</a:t>
            </a:r>
            <a:endParaRPr lang="en-US" sz="3000" dirty="0"/>
          </a:p>
        </p:txBody>
      </p:sp>
      <p:sp>
        <p:nvSpPr>
          <p:cNvPr id="6" name="Shape 3"/>
          <p:cNvSpPr/>
          <p:nvPr/>
        </p:nvSpPr>
        <p:spPr>
          <a:xfrm>
            <a:off x="502920" y="1600200"/>
            <a:ext cx="5394960" cy="1481328"/>
          </a:xfrm>
          <a:prstGeom prst="roundRect">
            <a:avLst>
              <a:gd name="adj" fmla="val 370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731520" y="1856232"/>
            <a:ext cx="457200" cy="457200"/>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50392" y="1975104"/>
            <a:ext cx="219456" cy="219456"/>
          </a:xfrm>
          <a:prstGeom prst="rect">
            <a:avLst/>
          </a:prstGeom>
        </p:spPr>
      </p:pic>
      <p:sp>
        <p:nvSpPr>
          <p:cNvPr id="9" name="Text 5"/>
          <p:cNvSpPr/>
          <p:nvPr/>
        </p:nvSpPr>
        <p:spPr>
          <a:xfrm>
            <a:off x="1371600" y="1783080"/>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Decoupled, Event-Driven Pipeline</a:t>
            </a:r>
            <a:endParaRPr lang="en-US" sz="1500" dirty="0"/>
          </a:p>
        </p:txBody>
      </p:sp>
      <p:sp>
        <p:nvSpPr>
          <p:cNvPr id="10" name="Text 6"/>
          <p:cNvSpPr/>
          <p:nvPr/>
        </p:nvSpPr>
        <p:spPr>
          <a:xfrm>
            <a:off x="1371600" y="2167128"/>
            <a:ext cx="4297680" cy="822960"/>
          </a:xfrm>
          <a:prstGeom prst="rect">
            <a:avLst/>
          </a:prstGeom>
          <a:noFill/>
          <a:ln/>
        </p:spPr>
        <p:txBody>
          <a:bodyPr wrap="square" lIns="0" tIns="0" rIns="0" bIns="0" rtlCol="0" anchor="ctr"/>
          <a:lstStyle/>
          <a:p>
            <a:pPr marL="0" indent="0">
              <a:buNone/>
            </a:pPr>
            <a:r>
              <a:rPr lang="en-US" sz="1150" dirty="0">
                <a:solidFill>
                  <a:srgbClr val="8CA0BC"/>
                </a:solidFill>
                <a:latin typeface="Calibri" pitchFamily="34" charset="0"/>
                <a:ea typeface="Calibri" pitchFamily="34" charset="-122"/>
                <a:cs typeface="Calibri" pitchFamily="34" charset="-120"/>
              </a:rPr>
              <a:t>Telemetry streams to the SIEM; alerts pass through a validation loop, trigger the SOAR for enrichment, then push to Case Management.</a:t>
            </a:r>
            <a:endParaRPr lang="en-US" sz="1150" dirty="0"/>
          </a:p>
        </p:txBody>
      </p:sp>
      <p:sp>
        <p:nvSpPr>
          <p:cNvPr id="11" name="Shape 7"/>
          <p:cNvSpPr/>
          <p:nvPr/>
        </p:nvSpPr>
        <p:spPr>
          <a:xfrm>
            <a:off x="6217920" y="1600200"/>
            <a:ext cx="5394960" cy="1481328"/>
          </a:xfrm>
          <a:prstGeom prst="roundRect">
            <a:avLst>
              <a:gd name="adj" fmla="val 370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2" name="Shape 8"/>
          <p:cNvSpPr/>
          <p:nvPr/>
        </p:nvSpPr>
        <p:spPr>
          <a:xfrm>
            <a:off x="6446520" y="1856232"/>
            <a:ext cx="457200" cy="457200"/>
          </a:xfrm>
          <a:prstGeom prst="ellipse">
            <a:avLst/>
          </a:prstGeom>
          <a:solidFill>
            <a:srgbClr val="16233B"/>
          </a:solidFill>
          <a:ln w="12700">
            <a:solidFill>
              <a:srgbClr val="22314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565392" y="1975104"/>
            <a:ext cx="219456" cy="219456"/>
          </a:xfrm>
          <a:prstGeom prst="rect">
            <a:avLst/>
          </a:prstGeom>
        </p:spPr>
      </p:pic>
      <p:sp>
        <p:nvSpPr>
          <p:cNvPr id="14" name="Text 9"/>
          <p:cNvSpPr/>
          <p:nvPr/>
        </p:nvSpPr>
        <p:spPr>
          <a:xfrm>
            <a:off x="7086600" y="1783080"/>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MITRE ATT&amp;CK Mapping</a:t>
            </a:r>
            <a:endParaRPr lang="en-US" sz="1500" dirty="0"/>
          </a:p>
        </p:txBody>
      </p:sp>
      <p:sp>
        <p:nvSpPr>
          <p:cNvPr id="15" name="Text 10"/>
          <p:cNvSpPr/>
          <p:nvPr/>
        </p:nvSpPr>
        <p:spPr>
          <a:xfrm>
            <a:off x="7086600" y="2167128"/>
            <a:ext cx="4297680" cy="822960"/>
          </a:xfrm>
          <a:prstGeom prst="rect">
            <a:avLst/>
          </a:prstGeom>
          <a:noFill/>
          <a:ln/>
        </p:spPr>
        <p:txBody>
          <a:bodyPr wrap="square" lIns="0" tIns="0" rIns="0" bIns="0" rtlCol="0" anchor="ctr"/>
          <a:lstStyle/>
          <a:p>
            <a:pPr marL="0" indent="0">
              <a:buNone/>
            </a:pPr>
            <a:r>
              <a:rPr lang="en-US" sz="1150" dirty="0">
                <a:solidFill>
                  <a:srgbClr val="8CA0BC"/>
                </a:solidFill>
                <a:latin typeface="Calibri" pitchFamily="34" charset="0"/>
                <a:ea typeface="Calibri" pitchFamily="34" charset="-122"/>
                <a:cs typeface="Calibri" pitchFamily="34" charset="-120"/>
              </a:rPr>
              <a:t>Every custom detection rule must map to a specific ATT&amp;CK technique — not just raise a generic alert.</a:t>
            </a:r>
            <a:endParaRPr lang="en-US" sz="1150" dirty="0"/>
          </a:p>
        </p:txBody>
      </p:sp>
      <p:sp>
        <p:nvSpPr>
          <p:cNvPr id="16" name="Shape 11"/>
          <p:cNvSpPr/>
          <p:nvPr/>
        </p:nvSpPr>
        <p:spPr>
          <a:xfrm>
            <a:off x="502920" y="3355848"/>
            <a:ext cx="5394960" cy="1481328"/>
          </a:xfrm>
          <a:prstGeom prst="roundRect">
            <a:avLst>
              <a:gd name="adj" fmla="val 370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7" name="Shape 12"/>
          <p:cNvSpPr/>
          <p:nvPr/>
        </p:nvSpPr>
        <p:spPr>
          <a:xfrm>
            <a:off x="731520" y="3611880"/>
            <a:ext cx="457200" cy="457200"/>
          </a:xfrm>
          <a:prstGeom prst="ellipse">
            <a:avLst/>
          </a:prstGeom>
          <a:solidFill>
            <a:srgbClr val="16233B"/>
          </a:solidFill>
          <a:ln w="12700">
            <a:solidFill>
              <a:srgbClr val="22314D"/>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850392" y="3730752"/>
            <a:ext cx="219456" cy="219456"/>
          </a:xfrm>
          <a:prstGeom prst="rect">
            <a:avLst/>
          </a:prstGeom>
        </p:spPr>
      </p:pic>
      <p:sp>
        <p:nvSpPr>
          <p:cNvPr id="19" name="Text 13"/>
          <p:cNvSpPr/>
          <p:nvPr/>
        </p:nvSpPr>
        <p:spPr>
          <a:xfrm>
            <a:off x="1371600" y="3538728"/>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Dynamic SLA Enforcement</a:t>
            </a:r>
            <a:endParaRPr lang="en-US" sz="1500" dirty="0"/>
          </a:p>
        </p:txBody>
      </p:sp>
      <p:sp>
        <p:nvSpPr>
          <p:cNvPr id="20" name="Text 14"/>
          <p:cNvSpPr/>
          <p:nvPr/>
        </p:nvSpPr>
        <p:spPr>
          <a:xfrm>
            <a:off x="1371600" y="3922776"/>
            <a:ext cx="4297680" cy="822960"/>
          </a:xfrm>
          <a:prstGeom prst="rect">
            <a:avLst/>
          </a:prstGeom>
          <a:noFill/>
          <a:ln/>
        </p:spPr>
        <p:txBody>
          <a:bodyPr wrap="square" lIns="0" tIns="0" rIns="0" bIns="0" rtlCol="0" anchor="ctr"/>
          <a:lstStyle/>
          <a:p>
            <a:pPr marL="0" indent="0">
              <a:buNone/>
            </a:pPr>
            <a:r>
              <a:rPr lang="en-US" sz="1150" dirty="0">
                <a:solidFill>
                  <a:srgbClr val="8CA0BC"/>
                </a:solidFill>
                <a:latin typeface="Calibri" pitchFamily="34" charset="0"/>
                <a:ea typeface="Calibri" pitchFamily="34" charset="-122"/>
                <a:cs typeface="Calibri" pitchFamily="34" charset="-120"/>
              </a:rPr>
              <a:t>Alert severity must automatically apply the correct Time-to-Acknowledge / Contain / Resolve targets.</a:t>
            </a:r>
            <a:endParaRPr lang="en-US" sz="1150" dirty="0"/>
          </a:p>
        </p:txBody>
      </p:sp>
      <p:sp>
        <p:nvSpPr>
          <p:cNvPr id="21" name="Shape 15"/>
          <p:cNvSpPr/>
          <p:nvPr/>
        </p:nvSpPr>
        <p:spPr>
          <a:xfrm>
            <a:off x="6217920" y="3355848"/>
            <a:ext cx="5394960" cy="1481328"/>
          </a:xfrm>
          <a:prstGeom prst="roundRect">
            <a:avLst>
              <a:gd name="adj" fmla="val 370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2" name="Shape 16"/>
          <p:cNvSpPr/>
          <p:nvPr/>
        </p:nvSpPr>
        <p:spPr>
          <a:xfrm>
            <a:off x="6446520" y="3611880"/>
            <a:ext cx="457200" cy="457200"/>
          </a:xfrm>
          <a:prstGeom prst="ellipse">
            <a:avLst/>
          </a:prstGeom>
          <a:solidFill>
            <a:srgbClr val="16233B"/>
          </a:solidFill>
          <a:ln w="12700">
            <a:solidFill>
              <a:srgbClr val="22314D"/>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6565392" y="3730752"/>
            <a:ext cx="219456" cy="219456"/>
          </a:xfrm>
          <a:prstGeom prst="rect">
            <a:avLst/>
          </a:prstGeom>
        </p:spPr>
      </p:pic>
      <p:sp>
        <p:nvSpPr>
          <p:cNvPr id="24" name="Text 17"/>
          <p:cNvSpPr/>
          <p:nvPr/>
        </p:nvSpPr>
        <p:spPr>
          <a:xfrm>
            <a:off x="7086600" y="3538728"/>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Cloud Threat Intelligence</a:t>
            </a:r>
            <a:endParaRPr lang="en-US" sz="1500" dirty="0"/>
          </a:p>
        </p:txBody>
      </p:sp>
      <p:sp>
        <p:nvSpPr>
          <p:cNvPr id="25" name="Text 18"/>
          <p:cNvSpPr/>
          <p:nvPr/>
        </p:nvSpPr>
        <p:spPr>
          <a:xfrm>
            <a:off x="7086600" y="3922776"/>
            <a:ext cx="4297680" cy="822960"/>
          </a:xfrm>
          <a:prstGeom prst="rect">
            <a:avLst/>
          </a:prstGeom>
          <a:noFill/>
          <a:ln/>
        </p:spPr>
        <p:txBody>
          <a:bodyPr wrap="square" lIns="0" tIns="0" rIns="0" bIns="0" rtlCol="0" anchor="ctr"/>
          <a:lstStyle/>
          <a:p>
            <a:pPr marL="0" indent="0">
              <a:buNone/>
            </a:pPr>
            <a:r>
              <a:rPr lang="en-US" sz="1150" dirty="0">
                <a:solidFill>
                  <a:srgbClr val="8CA0BC"/>
                </a:solidFill>
                <a:latin typeface="Calibri" pitchFamily="34" charset="0"/>
                <a:ea typeface="Calibri" pitchFamily="34" charset="-122"/>
                <a:cs typeface="Calibri" pitchFamily="34" charset="-120"/>
              </a:rPr>
              <a:t>Use cloud-based IOC enrichment APIs instead of a locally hosted database, to preserve host memory.</a:t>
            </a:r>
            <a:endParaRPr lang="en-US" sz="1150" dirty="0"/>
          </a:p>
        </p:txBody>
      </p:sp>
      <p:sp>
        <p:nvSpPr>
          <p:cNvPr id="26" name="Text 19"/>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7" name="Text 20"/>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03</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THE APPROACH</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Proposed Solution</a:t>
            </a:r>
            <a:endParaRPr lang="en-US" sz="3000" dirty="0"/>
          </a:p>
        </p:txBody>
      </p:sp>
      <p:sp>
        <p:nvSpPr>
          <p:cNvPr id="6" name="Text 3"/>
          <p:cNvSpPr/>
          <p:nvPr/>
        </p:nvSpPr>
        <p:spPr>
          <a:xfrm>
            <a:off x="502920" y="1645920"/>
            <a:ext cx="6309360" cy="4206240"/>
          </a:xfrm>
          <a:prstGeom prst="rect">
            <a:avLst/>
          </a:prstGeom>
          <a:noFill/>
          <a:ln/>
        </p:spPr>
        <p:txBody>
          <a:bodyPr wrap="square" rtlCol="0" anchor="t"/>
          <a:lstStyle/>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Build the entire stack from mature, open-source tooling — no commercial licensing, full control over configuration.</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Adopt a hybrid deployment: Wazuh installed natively for stability, remaining services (Shuffle, TheHive, Cassandra) containerized for portability.</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Replace heavyweight local components (MISP) with lightweight cloud threat-intelligence APIs to respect the memory budget.</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Engineer custom detection rules mapped to MITRE ATT&amp;CK, feeding a SOAR workflow that enriches and auto-escalates through a defined SLA matrix.</a:t>
            </a:r>
            <a:endParaRPr lang="en-US" sz="1400" dirty="0"/>
          </a:p>
        </p:txBody>
      </p:sp>
      <p:sp>
        <p:nvSpPr>
          <p:cNvPr id="7" name="Shape 4"/>
          <p:cNvSpPr/>
          <p:nvPr/>
        </p:nvSpPr>
        <p:spPr>
          <a:xfrm>
            <a:off x="7178040" y="1645920"/>
            <a:ext cx="4480560" cy="4297680"/>
          </a:xfrm>
          <a:prstGeom prst="roundRect">
            <a:avLst>
              <a:gd name="adj" fmla="val 1277"/>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8" name="Text 5"/>
          <p:cNvSpPr/>
          <p:nvPr/>
        </p:nvSpPr>
        <p:spPr>
          <a:xfrm>
            <a:off x="7498080" y="1874520"/>
            <a:ext cx="3931920" cy="274320"/>
          </a:xfrm>
          <a:prstGeom prst="rect">
            <a:avLst/>
          </a:prstGeom>
          <a:noFill/>
          <a:ln/>
        </p:spPr>
        <p:txBody>
          <a:bodyPr wrap="square" lIns="0" tIns="0" rIns="0" bIns="0" rtlCol="0" anchor="ctr"/>
          <a:lstStyle/>
          <a:p>
            <a:pPr marL="0" indent="0">
              <a:buNone/>
            </a:pPr>
            <a:r>
              <a:rPr lang="en-US" sz="1100" b="1" kern="0" spc="150" dirty="0">
                <a:solidFill>
                  <a:srgbClr val="22D3EE"/>
                </a:solidFill>
                <a:latin typeface="Calibri" pitchFamily="34" charset="0"/>
                <a:ea typeface="Calibri" pitchFamily="34" charset="-122"/>
                <a:cs typeface="Calibri" pitchFamily="34" charset="-120"/>
              </a:rPr>
              <a:t>SLA DETERMINATION MATRIX</a:t>
            </a:r>
            <a:endParaRPr lang="en-US" sz="1100" dirty="0"/>
          </a:p>
        </p:txBody>
      </p:sp>
      <p:sp>
        <p:nvSpPr>
          <p:cNvPr id="9" name="Text 6"/>
          <p:cNvSpPr/>
          <p:nvPr/>
        </p:nvSpPr>
        <p:spPr>
          <a:xfrm>
            <a:off x="7498080" y="2286000"/>
            <a:ext cx="1371600" cy="274320"/>
          </a:xfrm>
          <a:prstGeom prst="rect">
            <a:avLst/>
          </a:prstGeom>
          <a:noFill/>
          <a:ln/>
        </p:spPr>
        <p:txBody>
          <a:bodyPr wrap="square" lIns="0" tIns="0" rIns="0" bIns="0" rtlCol="0" anchor="ctr"/>
          <a:lstStyle/>
          <a:p>
            <a:pPr marL="0" indent="0">
              <a:buNone/>
            </a:pPr>
            <a:r>
              <a:rPr lang="en-US" sz="1050" b="1" dirty="0">
                <a:solidFill>
                  <a:srgbClr val="8CA0BC"/>
                </a:solidFill>
                <a:latin typeface="Calibri" pitchFamily="34" charset="0"/>
                <a:ea typeface="Calibri" pitchFamily="34" charset="-122"/>
                <a:cs typeface="Calibri" pitchFamily="34" charset="-120"/>
              </a:rPr>
              <a:t>Severity</a:t>
            </a:r>
            <a:endParaRPr lang="en-US" sz="1050" dirty="0"/>
          </a:p>
        </p:txBody>
      </p:sp>
      <p:sp>
        <p:nvSpPr>
          <p:cNvPr id="10" name="Text 7"/>
          <p:cNvSpPr/>
          <p:nvPr/>
        </p:nvSpPr>
        <p:spPr>
          <a:xfrm>
            <a:off x="8869680" y="2286000"/>
            <a:ext cx="777240" cy="274320"/>
          </a:xfrm>
          <a:prstGeom prst="rect">
            <a:avLst/>
          </a:prstGeom>
          <a:noFill/>
          <a:ln/>
        </p:spPr>
        <p:txBody>
          <a:bodyPr wrap="square" lIns="0" tIns="0" rIns="0" bIns="0" rtlCol="0" anchor="ctr"/>
          <a:lstStyle/>
          <a:p>
            <a:pPr marL="0" indent="0" algn="ctr">
              <a:buNone/>
            </a:pPr>
            <a:r>
              <a:rPr lang="en-US" sz="1050" b="1" dirty="0">
                <a:solidFill>
                  <a:srgbClr val="8CA0BC"/>
                </a:solidFill>
                <a:latin typeface="Calibri" pitchFamily="34" charset="0"/>
                <a:ea typeface="Calibri" pitchFamily="34" charset="-122"/>
                <a:cs typeface="Calibri" pitchFamily="34" charset="-120"/>
              </a:rPr>
              <a:t>TTA</a:t>
            </a:r>
            <a:endParaRPr lang="en-US" sz="1050" dirty="0"/>
          </a:p>
        </p:txBody>
      </p:sp>
      <p:sp>
        <p:nvSpPr>
          <p:cNvPr id="11" name="Text 8"/>
          <p:cNvSpPr/>
          <p:nvPr/>
        </p:nvSpPr>
        <p:spPr>
          <a:xfrm>
            <a:off x="9646920" y="2286000"/>
            <a:ext cx="777240" cy="274320"/>
          </a:xfrm>
          <a:prstGeom prst="rect">
            <a:avLst/>
          </a:prstGeom>
          <a:noFill/>
          <a:ln/>
        </p:spPr>
        <p:txBody>
          <a:bodyPr wrap="square" lIns="0" tIns="0" rIns="0" bIns="0" rtlCol="0" anchor="ctr"/>
          <a:lstStyle/>
          <a:p>
            <a:pPr marL="0" indent="0" algn="ctr">
              <a:buNone/>
            </a:pPr>
            <a:r>
              <a:rPr lang="en-US" sz="1050" b="1" dirty="0">
                <a:solidFill>
                  <a:srgbClr val="8CA0BC"/>
                </a:solidFill>
                <a:latin typeface="Calibri" pitchFamily="34" charset="0"/>
                <a:ea typeface="Calibri" pitchFamily="34" charset="-122"/>
                <a:cs typeface="Calibri" pitchFamily="34" charset="-120"/>
              </a:rPr>
              <a:t>TTC</a:t>
            </a:r>
            <a:endParaRPr lang="en-US" sz="1050" dirty="0"/>
          </a:p>
        </p:txBody>
      </p:sp>
      <p:sp>
        <p:nvSpPr>
          <p:cNvPr id="12" name="Text 9"/>
          <p:cNvSpPr/>
          <p:nvPr/>
        </p:nvSpPr>
        <p:spPr>
          <a:xfrm>
            <a:off x="10424160" y="2286000"/>
            <a:ext cx="777240" cy="274320"/>
          </a:xfrm>
          <a:prstGeom prst="rect">
            <a:avLst/>
          </a:prstGeom>
          <a:noFill/>
          <a:ln/>
        </p:spPr>
        <p:txBody>
          <a:bodyPr wrap="square" lIns="0" tIns="0" rIns="0" bIns="0" rtlCol="0" anchor="ctr"/>
          <a:lstStyle/>
          <a:p>
            <a:pPr marL="0" indent="0" algn="ctr">
              <a:buNone/>
            </a:pPr>
            <a:r>
              <a:rPr lang="en-US" sz="1050" b="1" dirty="0">
                <a:solidFill>
                  <a:srgbClr val="8CA0BC"/>
                </a:solidFill>
                <a:latin typeface="Calibri" pitchFamily="34" charset="0"/>
                <a:ea typeface="Calibri" pitchFamily="34" charset="-122"/>
                <a:cs typeface="Calibri" pitchFamily="34" charset="-120"/>
              </a:rPr>
              <a:t>TTR</a:t>
            </a:r>
            <a:endParaRPr lang="en-US" sz="1050" dirty="0"/>
          </a:p>
        </p:txBody>
      </p:sp>
      <p:sp>
        <p:nvSpPr>
          <p:cNvPr id="13" name="Shape 10"/>
          <p:cNvSpPr/>
          <p:nvPr/>
        </p:nvSpPr>
        <p:spPr>
          <a:xfrm>
            <a:off x="7498080" y="2706624"/>
            <a:ext cx="128016" cy="128016"/>
          </a:xfrm>
          <a:prstGeom prst="ellipse">
            <a:avLst/>
          </a:prstGeom>
          <a:solidFill>
            <a:srgbClr val="F43F5E"/>
          </a:solidFill>
          <a:ln/>
        </p:spPr>
        <p:txBody>
          <a:bodyPr/>
          <a:lstStyle/>
          <a:p>
            <a:endParaRPr lang="en-US"/>
          </a:p>
        </p:txBody>
      </p:sp>
      <p:sp>
        <p:nvSpPr>
          <p:cNvPr id="14" name="Text 11"/>
          <p:cNvSpPr/>
          <p:nvPr/>
        </p:nvSpPr>
        <p:spPr>
          <a:xfrm>
            <a:off x="7699248" y="2624328"/>
            <a:ext cx="1188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Critical</a:t>
            </a:r>
            <a:endParaRPr lang="en-US" sz="1200" dirty="0"/>
          </a:p>
        </p:txBody>
      </p:sp>
      <p:sp>
        <p:nvSpPr>
          <p:cNvPr id="15" name="Text 12"/>
          <p:cNvSpPr/>
          <p:nvPr/>
        </p:nvSpPr>
        <p:spPr>
          <a:xfrm>
            <a:off x="8869680" y="2624328"/>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15m</a:t>
            </a:r>
            <a:endParaRPr lang="en-US" sz="1150" dirty="0"/>
          </a:p>
        </p:txBody>
      </p:sp>
      <p:sp>
        <p:nvSpPr>
          <p:cNvPr id="16" name="Text 13"/>
          <p:cNvSpPr/>
          <p:nvPr/>
        </p:nvSpPr>
        <p:spPr>
          <a:xfrm>
            <a:off x="9646920" y="2624328"/>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1h</a:t>
            </a:r>
            <a:endParaRPr lang="en-US" sz="1150" dirty="0"/>
          </a:p>
        </p:txBody>
      </p:sp>
      <p:sp>
        <p:nvSpPr>
          <p:cNvPr id="17" name="Text 14"/>
          <p:cNvSpPr/>
          <p:nvPr/>
        </p:nvSpPr>
        <p:spPr>
          <a:xfrm>
            <a:off x="10424160" y="2624328"/>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4h</a:t>
            </a:r>
            <a:endParaRPr lang="en-US" sz="1150" dirty="0"/>
          </a:p>
        </p:txBody>
      </p:sp>
      <p:sp>
        <p:nvSpPr>
          <p:cNvPr id="18" name="Shape 15"/>
          <p:cNvSpPr/>
          <p:nvPr/>
        </p:nvSpPr>
        <p:spPr>
          <a:xfrm>
            <a:off x="7498080" y="3090672"/>
            <a:ext cx="128016" cy="128016"/>
          </a:xfrm>
          <a:prstGeom prst="ellipse">
            <a:avLst/>
          </a:prstGeom>
          <a:solidFill>
            <a:srgbClr val="F59E0B"/>
          </a:solidFill>
          <a:ln/>
        </p:spPr>
        <p:txBody>
          <a:bodyPr/>
          <a:lstStyle/>
          <a:p>
            <a:endParaRPr lang="en-US"/>
          </a:p>
        </p:txBody>
      </p:sp>
      <p:sp>
        <p:nvSpPr>
          <p:cNvPr id="19" name="Text 16"/>
          <p:cNvSpPr/>
          <p:nvPr/>
        </p:nvSpPr>
        <p:spPr>
          <a:xfrm>
            <a:off x="7699248" y="3008376"/>
            <a:ext cx="1188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20" name="Text 17"/>
          <p:cNvSpPr/>
          <p:nvPr/>
        </p:nvSpPr>
        <p:spPr>
          <a:xfrm>
            <a:off x="8869680" y="3008376"/>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30m</a:t>
            </a:r>
            <a:endParaRPr lang="en-US" sz="1150" dirty="0"/>
          </a:p>
        </p:txBody>
      </p:sp>
      <p:sp>
        <p:nvSpPr>
          <p:cNvPr id="21" name="Text 18"/>
          <p:cNvSpPr/>
          <p:nvPr/>
        </p:nvSpPr>
        <p:spPr>
          <a:xfrm>
            <a:off x="9646920" y="3008376"/>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4h</a:t>
            </a:r>
            <a:endParaRPr lang="en-US" sz="1150" dirty="0"/>
          </a:p>
        </p:txBody>
      </p:sp>
      <p:sp>
        <p:nvSpPr>
          <p:cNvPr id="22" name="Text 19"/>
          <p:cNvSpPr/>
          <p:nvPr/>
        </p:nvSpPr>
        <p:spPr>
          <a:xfrm>
            <a:off x="10424160" y="3008376"/>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24h</a:t>
            </a:r>
            <a:endParaRPr lang="en-US" sz="1150" dirty="0"/>
          </a:p>
        </p:txBody>
      </p:sp>
      <p:sp>
        <p:nvSpPr>
          <p:cNvPr id="23" name="Shape 20"/>
          <p:cNvSpPr/>
          <p:nvPr/>
        </p:nvSpPr>
        <p:spPr>
          <a:xfrm>
            <a:off x="7498080" y="3474720"/>
            <a:ext cx="128016" cy="128016"/>
          </a:xfrm>
          <a:prstGeom prst="ellipse">
            <a:avLst/>
          </a:prstGeom>
          <a:solidFill>
            <a:srgbClr val="5EEAD4"/>
          </a:solidFill>
          <a:ln/>
        </p:spPr>
        <p:txBody>
          <a:bodyPr/>
          <a:lstStyle/>
          <a:p>
            <a:endParaRPr lang="en-US"/>
          </a:p>
        </p:txBody>
      </p:sp>
      <p:sp>
        <p:nvSpPr>
          <p:cNvPr id="24" name="Text 21"/>
          <p:cNvSpPr/>
          <p:nvPr/>
        </p:nvSpPr>
        <p:spPr>
          <a:xfrm>
            <a:off x="7699248" y="3392424"/>
            <a:ext cx="1188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Medium</a:t>
            </a:r>
            <a:endParaRPr lang="en-US" sz="1200" dirty="0"/>
          </a:p>
        </p:txBody>
      </p:sp>
      <p:sp>
        <p:nvSpPr>
          <p:cNvPr id="25" name="Text 22"/>
          <p:cNvSpPr/>
          <p:nvPr/>
        </p:nvSpPr>
        <p:spPr>
          <a:xfrm>
            <a:off x="8869680" y="3392424"/>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2h</a:t>
            </a:r>
            <a:endParaRPr lang="en-US" sz="1150" dirty="0"/>
          </a:p>
        </p:txBody>
      </p:sp>
      <p:sp>
        <p:nvSpPr>
          <p:cNvPr id="26" name="Text 23"/>
          <p:cNvSpPr/>
          <p:nvPr/>
        </p:nvSpPr>
        <p:spPr>
          <a:xfrm>
            <a:off x="9646920" y="3392424"/>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12h</a:t>
            </a:r>
            <a:endParaRPr lang="en-US" sz="1150" dirty="0"/>
          </a:p>
        </p:txBody>
      </p:sp>
      <p:sp>
        <p:nvSpPr>
          <p:cNvPr id="27" name="Text 24"/>
          <p:cNvSpPr/>
          <p:nvPr/>
        </p:nvSpPr>
        <p:spPr>
          <a:xfrm>
            <a:off x="10424160" y="3392424"/>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48h</a:t>
            </a:r>
            <a:endParaRPr lang="en-US" sz="1150" dirty="0"/>
          </a:p>
        </p:txBody>
      </p:sp>
      <p:sp>
        <p:nvSpPr>
          <p:cNvPr id="28" name="Shape 25"/>
          <p:cNvSpPr/>
          <p:nvPr/>
        </p:nvSpPr>
        <p:spPr>
          <a:xfrm>
            <a:off x="7498080" y="3858768"/>
            <a:ext cx="128016" cy="128016"/>
          </a:xfrm>
          <a:prstGeom prst="ellipse">
            <a:avLst/>
          </a:prstGeom>
          <a:solidFill>
            <a:srgbClr val="8CA0BC"/>
          </a:solidFill>
          <a:ln/>
        </p:spPr>
        <p:txBody>
          <a:bodyPr/>
          <a:lstStyle/>
          <a:p>
            <a:endParaRPr lang="en-US"/>
          </a:p>
        </p:txBody>
      </p:sp>
      <p:sp>
        <p:nvSpPr>
          <p:cNvPr id="29" name="Text 26"/>
          <p:cNvSpPr/>
          <p:nvPr/>
        </p:nvSpPr>
        <p:spPr>
          <a:xfrm>
            <a:off x="7699248" y="3776472"/>
            <a:ext cx="1188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Low</a:t>
            </a:r>
            <a:endParaRPr lang="en-US" sz="1200" dirty="0"/>
          </a:p>
        </p:txBody>
      </p:sp>
      <p:sp>
        <p:nvSpPr>
          <p:cNvPr id="30" name="Text 27"/>
          <p:cNvSpPr/>
          <p:nvPr/>
        </p:nvSpPr>
        <p:spPr>
          <a:xfrm>
            <a:off x="8869680" y="3776472"/>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8h</a:t>
            </a:r>
            <a:endParaRPr lang="en-US" sz="1150" dirty="0"/>
          </a:p>
        </p:txBody>
      </p:sp>
      <p:sp>
        <p:nvSpPr>
          <p:cNvPr id="31" name="Text 28"/>
          <p:cNvSpPr/>
          <p:nvPr/>
        </p:nvSpPr>
        <p:spPr>
          <a:xfrm>
            <a:off x="9646920" y="3776472"/>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N/A</a:t>
            </a:r>
            <a:endParaRPr lang="en-US" sz="1150" dirty="0"/>
          </a:p>
        </p:txBody>
      </p:sp>
      <p:sp>
        <p:nvSpPr>
          <p:cNvPr id="32" name="Text 29"/>
          <p:cNvSpPr/>
          <p:nvPr/>
        </p:nvSpPr>
        <p:spPr>
          <a:xfrm>
            <a:off x="10424160" y="3776472"/>
            <a:ext cx="777240" cy="274320"/>
          </a:xfrm>
          <a:prstGeom prst="rect">
            <a:avLst/>
          </a:prstGeom>
          <a:noFill/>
          <a:ln/>
        </p:spPr>
        <p:txBody>
          <a:bodyPr wrap="square" lIns="0" tIns="0" rIns="0" bIns="0" rtlCol="0" anchor="ctr"/>
          <a:lstStyle/>
          <a:p>
            <a:pPr marL="0" indent="0" algn="ctr">
              <a:buNone/>
            </a:pPr>
            <a:r>
              <a:rPr lang="en-US" sz="1150" dirty="0">
                <a:solidFill>
                  <a:srgbClr val="E8EEF5"/>
                </a:solidFill>
                <a:latin typeface="Calibri" pitchFamily="34" charset="0"/>
                <a:ea typeface="Calibri" pitchFamily="34" charset="-122"/>
                <a:cs typeface="Calibri" pitchFamily="34" charset="-120"/>
              </a:rPr>
              <a:t>7d</a:t>
            </a:r>
            <a:endParaRPr lang="en-US" sz="1150" dirty="0"/>
          </a:p>
        </p:txBody>
      </p:sp>
      <p:sp>
        <p:nvSpPr>
          <p:cNvPr id="33" name="Text 30"/>
          <p:cNvSpPr/>
          <p:nvPr/>
        </p:nvSpPr>
        <p:spPr>
          <a:xfrm>
            <a:off x="7498080" y="4297680"/>
            <a:ext cx="4023360" cy="365760"/>
          </a:xfrm>
          <a:prstGeom prst="rect">
            <a:avLst/>
          </a:prstGeom>
          <a:noFill/>
          <a:ln/>
        </p:spPr>
        <p:txBody>
          <a:bodyPr wrap="square" lIns="0" tIns="0" rIns="0" bIns="0" rtlCol="0" anchor="ctr"/>
          <a:lstStyle/>
          <a:p>
            <a:pPr marL="0" indent="0">
              <a:buNone/>
            </a:pPr>
            <a:r>
              <a:rPr lang="en-US" sz="1000" i="1" dirty="0">
                <a:solidFill>
                  <a:srgbClr val="5B7089"/>
                </a:solidFill>
                <a:latin typeface="Calibri" pitchFamily="34" charset="0"/>
                <a:ea typeface="Calibri" pitchFamily="34" charset="-122"/>
                <a:cs typeface="Calibri" pitchFamily="34" charset="-120"/>
              </a:rPr>
              <a:t>Example: Critical = Credential Dumping (T1003.001)</a:t>
            </a:r>
            <a:endParaRPr lang="en-US" sz="1000" dirty="0"/>
          </a:p>
        </p:txBody>
      </p:sp>
      <p:sp>
        <p:nvSpPr>
          <p:cNvPr id="34" name="Text 31"/>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35" name="Text 32"/>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04</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6" name="Shape 3"/>
          <p:cNvSpPr/>
          <p:nvPr/>
        </p:nvSpPr>
        <p:spPr>
          <a:xfrm>
            <a:off x="502920" y="1783080"/>
            <a:ext cx="4892040" cy="3246120"/>
          </a:xfrm>
          <a:prstGeom prst="roundRect">
            <a:avLst>
              <a:gd name="adj" fmla="val 169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777240" y="2011680"/>
            <a:ext cx="411480" cy="411480"/>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84225" y="2118665"/>
            <a:ext cx="197510" cy="197510"/>
          </a:xfrm>
          <a:prstGeom prst="rect">
            <a:avLst/>
          </a:prstGeom>
        </p:spPr>
      </p:pic>
      <p:sp>
        <p:nvSpPr>
          <p:cNvPr id="9" name="Text 5"/>
          <p:cNvSpPr/>
          <p:nvPr/>
        </p:nvSpPr>
        <p:spPr>
          <a:xfrm>
            <a:off x="1325880" y="2039112"/>
            <a:ext cx="39319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SOC-Backend — Ubuntu Server VM</a:t>
            </a:r>
            <a:endParaRPr lang="en-US" sz="1450" dirty="0"/>
          </a:p>
        </p:txBody>
      </p:sp>
      <p:sp>
        <p:nvSpPr>
          <p:cNvPr id="10" name="Text 6"/>
          <p:cNvSpPr/>
          <p:nvPr/>
        </p:nvSpPr>
        <p:spPr>
          <a:xfrm>
            <a:off x="822960" y="2560320"/>
            <a:ext cx="4343400" cy="2377440"/>
          </a:xfrm>
          <a:prstGeom prst="rect">
            <a:avLst/>
          </a:prstGeom>
          <a:noFill/>
          <a:ln/>
        </p:spPr>
        <p:txBody>
          <a:bodyPr wrap="square" rtlCol="0" anchor="t"/>
          <a:lstStyle/>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8 GB RAM · 2 vCPU · 40-50 GB thin-provisioned disk</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Static IP 192.168.196.132 (Netplan, ens33)</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Native Wazuh (systemd) — SIEM engine</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Dockerized: Shuffle, TheHive, Cassandra, OpenSearch on soc-network bridge</a:t>
            </a:r>
            <a:endParaRPr lang="en-US" sz="1200" dirty="0"/>
          </a:p>
        </p:txBody>
      </p:sp>
      <p:sp>
        <p:nvSpPr>
          <p:cNvPr id="11" name="Shape 7"/>
          <p:cNvSpPr/>
          <p:nvPr/>
        </p:nvSpPr>
        <p:spPr>
          <a:xfrm>
            <a:off x="6766560" y="1783080"/>
            <a:ext cx="4892040" cy="3246120"/>
          </a:xfrm>
          <a:prstGeom prst="roundRect">
            <a:avLst>
              <a:gd name="adj" fmla="val 169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2" name="Shape 8"/>
          <p:cNvSpPr/>
          <p:nvPr/>
        </p:nvSpPr>
        <p:spPr>
          <a:xfrm>
            <a:off x="7040880" y="2011680"/>
            <a:ext cx="411480" cy="411480"/>
          </a:xfrm>
          <a:prstGeom prst="ellipse">
            <a:avLst/>
          </a:prstGeom>
          <a:solidFill>
            <a:srgbClr val="16233B"/>
          </a:solidFill>
          <a:ln w="12700">
            <a:solidFill>
              <a:srgbClr val="22314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147865" y="2118665"/>
            <a:ext cx="197510" cy="197510"/>
          </a:xfrm>
          <a:prstGeom prst="rect">
            <a:avLst/>
          </a:prstGeom>
        </p:spPr>
      </p:pic>
      <p:sp>
        <p:nvSpPr>
          <p:cNvPr id="14" name="Text 9"/>
          <p:cNvSpPr/>
          <p:nvPr/>
        </p:nvSpPr>
        <p:spPr>
          <a:xfrm>
            <a:off x="7589520" y="2039112"/>
            <a:ext cx="39319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Endpoint-Victim — Windows 10/11 VM</a:t>
            </a:r>
            <a:endParaRPr lang="en-US" sz="1450" dirty="0"/>
          </a:p>
        </p:txBody>
      </p:sp>
      <p:sp>
        <p:nvSpPr>
          <p:cNvPr id="15" name="Text 10"/>
          <p:cNvSpPr/>
          <p:nvPr/>
        </p:nvSpPr>
        <p:spPr>
          <a:xfrm>
            <a:off x="7086600" y="2560320"/>
            <a:ext cx="4343400" cy="2377440"/>
          </a:xfrm>
          <a:prstGeom prst="rect">
            <a:avLst/>
          </a:prstGeom>
          <a:noFill/>
          <a:ln/>
        </p:spPr>
        <p:txBody>
          <a:bodyPr wrap="square" rtlCol="0" anchor="t"/>
          <a:lstStyle/>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4 GB RAM · 2 vCPU · 50 GB thin-provisioned disk</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DHCP IP 192.168.196.133</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Sysmon telemetry generation (SwiftOnSecurity config)</a:t>
            </a:r>
            <a:endParaRPr lang="en-US" sz="1200" dirty="0"/>
          </a:p>
          <a:p>
            <a:pPr marL="228600" indent="-228600">
              <a:spcAft>
                <a:spcPts val="1000"/>
              </a:spcAft>
              <a:buSzPct val="100000"/>
              <a:buChar char="•"/>
            </a:pPr>
            <a:r>
              <a:rPr lang="en-US" sz="1200" dirty="0">
                <a:solidFill>
                  <a:srgbClr val="E8EEF5"/>
                </a:solidFill>
                <a:latin typeface="Calibri" pitchFamily="34" charset="0"/>
                <a:ea typeface="Calibri" pitchFamily="34" charset="-122"/>
                <a:cs typeface="Calibri" pitchFamily="34" charset="-120"/>
              </a:rPr>
              <a:t>Target for Atomic Red Team adversary emulation</a:t>
            </a:r>
            <a:endParaRPr lang="en-US" sz="1200" dirty="0"/>
          </a:p>
        </p:txBody>
      </p:sp>
      <p:sp>
        <p:nvSpPr>
          <p:cNvPr id="16" name="Shape 11"/>
          <p:cNvSpPr/>
          <p:nvPr/>
        </p:nvSpPr>
        <p:spPr>
          <a:xfrm>
            <a:off x="5394960" y="3406140"/>
            <a:ext cx="1371600" cy="0"/>
          </a:xfrm>
          <a:prstGeom prst="line">
            <a:avLst/>
          </a:prstGeom>
          <a:noFill/>
          <a:ln w="28575">
            <a:solidFill>
              <a:srgbClr val="22D3EE"/>
            </a:solidFill>
            <a:prstDash val="solid"/>
            <a:headEnd type="triangle"/>
            <a:tailEnd type="triangle"/>
          </a:ln>
        </p:spPr>
        <p:txBody>
          <a:bodyPr/>
          <a:lstStyle/>
          <a:p>
            <a:endParaRPr lang="en-US"/>
          </a:p>
        </p:txBody>
      </p:sp>
      <p:sp>
        <p:nvSpPr>
          <p:cNvPr id="17" name="Text 12"/>
          <p:cNvSpPr/>
          <p:nvPr/>
        </p:nvSpPr>
        <p:spPr>
          <a:xfrm>
            <a:off x="5257800" y="3022092"/>
            <a:ext cx="1691640" cy="274320"/>
          </a:xfrm>
          <a:prstGeom prst="rect">
            <a:avLst/>
          </a:prstGeom>
          <a:noFill/>
          <a:ln/>
        </p:spPr>
        <p:txBody>
          <a:bodyPr wrap="square" lIns="0" tIns="0" rIns="0" bIns="0" rtlCol="0" anchor="ctr"/>
          <a:lstStyle/>
          <a:p>
            <a:pPr marL="0" indent="0" algn="ctr">
              <a:buNone/>
            </a:pPr>
            <a:r>
              <a:rPr lang="en-US" sz="950" dirty="0">
                <a:solidFill>
                  <a:srgbClr val="8CA0BC"/>
                </a:solidFill>
                <a:latin typeface="Calibri" pitchFamily="34" charset="0"/>
                <a:ea typeface="Calibri" pitchFamily="34" charset="-122"/>
                <a:cs typeface="Calibri" pitchFamily="34" charset="-120"/>
              </a:rPr>
              <a:t>Wazuh Agent → Manager</a:t>
            </a:r>
            <a:endParaRPr lang="en-US" sz="950" dirty="0"/>
          </a:p>
        </p:txBody>
      </p:sp>
      <p:sp>
        <p:nvSpPr>
          <p:cNvPr id="18" name="Text 13"/>
          <p:cNvSpPr/>
          <p:nvPr/>
        </p:nvSpPr>
        <p:spPr>
          <a:xfrm>
            <a:off x="502920" y="5257800"/>
            <a:ext cx="11155680" cy="548640"/>
          </a:xfrm>
          <a:prstGeom prst="rect">
            <a:avLst/>
          </a:prstGeom>
          <a:noFill/>
          <a:ln/>
        </p:spPr>
        <p:txBody>
          <a:bodyPr wrap="square" lIns="0" tIns="0" rIns="0" bIns="0" rtlCol="0" anchor="ctr"/>
          <a:lstStyle/>
          <a:p>
            <a:pPr marL="0" indent="0">
              <a:buNone/>
            </a:pPr>
            <a:r>
              <a:rPr lang="en-US" sz="1200" i="1" dirty="0">
                <a:solidFill>
                  <a:srgbClr val="8CA0BC"/>
                </a:solidFill>
                <a:latin typeface="Calibri" pitchFamily="34" charset="0"/>
                <a:ea typeface="Calibri" pitchFamily="34" charset="-122"/>
                <a:cs typeface="Calibri" pitchFamily="34" charset="-120"/>
              </a:rPr>
              <a:t>Decoupled event-driven design: the host laptop runs both VMs side-by-side; the Ubuntu backend hosts the entire SOC stack while the Windows VM exists purely to generate realistic attacker telemetry.</a:t>
            </a:r>
            <a:endParaRPr lang="en-US" sz="1200" dirty="0"/>
          </a:p>
        </p:txBody>
      </p:sp>
      <p:sp>
        <p:nvSpPr>
          <p:cNvPr id="19" name="Text 14"/>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0" name="Text 15"/>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05</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DEPLOYMENT</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Environment</a:t>
            </a:r>
            <a:endParaRPr lang="en-US" sz="3000" dirty="0"/>
          </a:p>
        </p:txBody>
      </p:sp>
      <p:sp>
        <p:nvSpPr>
          <p:cNvPr id="6" name="Text 3"/>
          <p:cNvSpPr/>
          <p:nvPr/>
        </p:nvSpPr>
        <p:spPr>
          <a:xfrm>
            <a:off x="502920" y="1691640"/>
            <a:ext cx="6309360" cy="4114800"/>
          </a:xfrm>
          <a:prstGeom prst="rect">
            <a:avLst/>
          </a:prstGeom>
          <a:noFill/>
          <a:ln/>
        </p:spPr>
        <p:txBody>
          <a:bodyPr wrap="square" rtlCol="0" anchor="t"/>
          <a:lstStyle/>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Hypervisor: VMware Workstation, chosen for stable dual-VM virtualization on a single laptop.</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Hybrid deployment model: Wazuh installed natively on Ubuntu (managed via systemd) after Docker-based Wazuh proved unreliable.</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Remaining SOC services — Shuffle, TheHive, Cassandra, OpenSearch — run as Docker containers on a custom soc-network bridge.</a:t>
            </a:r>
            <a:endParaRPr lang="en-US" sz="1400" dirty="0"/>
          </a:p>
          <a:p>
            <a:pPr marL="228600" indent="-228600">
              <a:spcAft>
                <a:spcPts val="1600"/>
              </a:spcAft>
              <a:buSzPct val="100000"/>
              <a:buChar char="•"/>
            </a:pPr>
            <a:r>
              <a:rPr lang="en-US" sz="1400" dirty="0">
                <a:solidFill>
                  <a:srgbClr val="E8EEF5"/>
                </a:solidFill>
                <a:latin typeface="Calibri" pitchFamily="34" charset="0"/>
                <a:ea typeface="Calibri" pitchFamily="34" charset="-122"/>
                <a:cs typeface="Calibri" pitchFamily="34" charset="-120"/>
              </a:rPr>
              <a:t>SSD-protection measures: mainMem.useNamedFile = FALSE in the .vmx file, and vm.swappiness = 1 on the Ubuntu guest.</a:t>
            </a:r>
            <a:endParaRPr lang="en-US" sz="1400" dirty="0"/>
          </a:p>
        </p:txBody>
      </p:sp>
      <p:sp>
        <p:nvSpPr>
          <p:cNvPr id="7" name="Shape 4"/>
          <p:cNvSpPr/>
          <p:nvPr/>
        </p:nvSpPr>
        <p:spPr>
          <a:xfrm>
            <a:off x="7178040" y="1691640"/>
            <a:ext cx="4480560" cy="4114800"/>
          </a:xfrm>
          <a:prstGeom prst="roundRect">
            <a:avLst>
              <a:gd name="adj" fmla="val 133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8" name="Text 5"/>
          <p:cNvSpPr/>
          <p:nvPr/>
        </p:nvSpPr>
        <p:spPr>
          <a:xfrm>
            <a:off x="7498080" y="1920240"/>
            <a:ext cx="3931920" cy="274320"/>
          </a:xfrm>
          <a:prstGeom prst="rect">
            <a:avLst/>
          </a:prstGeom>
          <a:noFill/>
          <a:ln/>
        </p:spPr>
        <p:txBody>
          <a:bodyPr wrap="square" lIns="0" tIns="0" rIns="0" bIns="0" rtlCol="0" anchor="ctr"/>
          <a:lstStyle/>
          <a:p>
            <a:pPr marL="0" indent="0">
              <a:buNone/>
            </a:pPr>
            <a:r>
              <a:rPr lang="en-US" sz="1100" b="1" kern="0" spc="150" dirty="0">
                <a:solidFill>
                  <a:srgbClr val="22D3EE"/>
                </a:solidFill>
                <a:latin typeface="Calibri" pitchFamily="34" charset="0"/>
                <a:ea typeface="Calibri" pitchFamily="34" charset="-122"/>
                <a:cs typeface="Calibri" pitchFamily="34" charset="-120"/>
              </a:rPr>
              <a:t>WHY HYBRID?</a:t>
            </a:r>
            <a:endParaRPr lang="en-US" sz="1100" dirty="0"/>
          </a:p>
        </p:txBody>
      </p:sp>
      <p:sp>
        <p:nvSpPr>
          <p:cNvPr id="9" name="Shape 6"/>
          <p:cNvSpPr/>
          <p:nvPr/>
        </p:nvSpPr>
        <p:spPr>
          <a:xfrm>
            <a:off x="7498080" y="2286000"/>
            <a:ext cx="384048" cy="384048"/>
          </a:xfrm>
          <a:prstGeom prst="ellipse">
            <a:avLst/>
          </a:prstGeom>
          <a:solidFill>
            <a:srgbClr val="16233B"/>
          </a:solidFill>
          <a:ln w="12700">
            <a:solidFill>
              <a:srgbClr val="22314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7597932" y="2385852"/>
            <a:ext cx="184343" cy="184343"/>
          </a:xfrm>
          <a:prstGeom prst="rect">
            <a:avLst/>
          </a:prstGeom>
        </p:spPr>
      </p:pic>
      <p:sp>
        <p:nvSpPr>
          <p:cNvPr id="11" name="Text 7"/>
          <p:cNvSpPr/>
          <p:nvPr/>
        </p:nvSpPr>
        <p:spPr>
          <a:xfrm>
            <a:off x="8028432" y="2267712"/>
            <a:ext cx="3429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Native Wazuh</a:t>
            </a:r>
            <a:endParaRPr lang="en-US" sz="1250" dirty="0"/>
          </a:p>
        </p:txBody>
      </p:sp>
      <p:sp>
        <p:nvSpPr>
          <p:cNvPr id="12" name="Text 8"/>
          <p:cNvSpPr/>
          <p:nvPr/>
        </p:nvSpPr>
        <p:spPr>
          <a:xfrm>
            <a:off x="8028432" y="2542032"/>
            <a:ext cx="3520440" cy="502920"/>
          </a:xfrm>
          <a:prstGeom prst="rect">
            <a:avLst/>
          </a:prstGeom>
          <a:noFill/>
          <a:ln/>
        </p:spPr>
        <p:txBody>
          <a:bodyPr wrap="square" lIns="0" tIns="0" rIns="0" bIns="0" rtlCol="0" anchor="ctr"/>
          <a:lstStyle/>
          <a:p>
            <a:pPr marL="0" indent="0">
              <a:buNone/>
            </a:pPr>
            <a:r>
              <a:rPr lang="en-US" sz="1050" dirty="0">
                <a:solidFill>
                  <a:srgbClr val="8CA0BC"/>
                </a:solidFill>
                <a:latin typeface="Calibri" pitchFamily="34" charset="0"/>
                <a:ea typeface="Calibri" pitchFamily="34" charset="-122"/>
                <a:cs typeface="Calibri" pitchFamily="34" charset="-120"/>
              </a:rPr>
              <a:t>Stable — avoids the SSL/hostname bugs baked into Wazuh's Docker images</a:t>
            </a:r>
            <a:endParaRPr lang="en-US" sz="1050" dirty="0"/>
          </a:p>
        </p:txBody>
      </p:sp>
      <p:sp>
        <p:nvSpPr>
          <p:cNvPr id="13" name="Shape 9"/>
          <p:cNvSpPr/>
          <p:nvPr/>
        </p:nvSpPr>
        <p:spPr>
          <a:xfrm>
            <a:off x="7498080" y="3218688"/>
            <a:ext cx="384048" cy="384048"/>
          </a:xfrm>
          <a:prstGeom prst="ellipse">
            <a:avLst/>
          </a:prstGeom>
          <a:solidFill>
            <a:srgbClr val="16233B"/>
          </a:solidFill>
          <a:ln w="12700">
            <a:solidFill>
              <a:srgbClr val="22314D"/>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7597932" y="3318540"/>
            <a:ext cx="184343" cy="184343"/>
          </a:xfrm>
          <a:prstGeom prst="rect">
            <a:avLst/>
          </a:prstGeom>
        </p:spPr>
      </p:pic>
      <p:sp>
        <p:nvSpPr>
          <p:cNvPr id="15" name="Text 10"/>
          <p:cNvSpPr/>
          <p:nvPr/>
        </p:nvSpPr>
        <p:spPr>
          <a:xfrm>
            <a:off x="8028432" y="3200400"/>
            <a:ext cx="3429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Dockerized services</a:t>
            </a:r>
            <a:endParaRPr lang="en-US" sz="1250" dirty="0"/>
          </a:p>
        </p:txBody>
      </p:sp>
      <p:sp>
        <p:nvSpPr>
          <p:cNvPr id="16" name="Text 11"/>
          <p:cNvSpPr/>
          <p:nvPr/>
        </p:nvSpPr>
        <p:spPr>
          <a:xfrm>
            <a:off x="8028432" y="3474720"/>
            <a:ext cx="3520440" cy="502920"/>
          </a:xfrm>
          <a:prstGeom prst="rect">
            <a:avLst/>
          </a:prstGeom>
          <a:noFill/>
          <a:ln/>
        </p:spPr>
        <p:txBody>
          <a:bodyPr wrap="square" lIns="0" tIns="0" rIns="0" bIns="0" rtlCol="0" anchor="ctr"/>
          <a:lstStyle/>
          <a:p>
            <a:pPr marL="0" indent="0">
              <a:buNone/>
            </a:pPr>
            <a:r>
              <a:rPr lang="en-US" sz="1050" dirty="0">
                <a:solidFill>
                  <a:srgbClr val="8CA0BC"/>
                </a:solidFill>
                <a:latin typeface="Calibri" pitchFamily="34" charset="0"/>
                <a:ea typeface="Calibri" pitchFamily="34" charset="-122"/>
                <a:cs typeface="Calibri" pitchFamily="34" charset="-120"/>
              </a:rPr>
              <a:t>Shuffle / TheHive / Cassandra isolated, portable, individually resource-capped</a:t>
            </a:r>
            <a:endParaRPr lang="en-US" sz="1050" dirty="0"/>
          </a:p>
        </p:txBody>
      </p:sp>
      <p:sp>
        <p:nvSpPr>
          <p:cNvPr id="17" name="Shape 12"/>
          <p:cNvSpPr/>
          <p:nvPr/>
        </p:nvSpPr>
        <p:spPr>
          <a:xfrm>
            <a:off x="7498080" y="4151376"/>
            <a:ext cx="384048" cy="384048"/>
          </a:xfrm>
          <a:prstGeom prst="ellipse">
            <a:avLst/>
          </a:prstGeom>
          <a:solidFill>
            <a:srgbClr val="16233B"/>
          </a:solidFill>
          <a:ln w="12700">
            <a:solidFill>
              <a:srgbClr val="22314D"/>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7597932" y="4251228"/>
            <a:ext cx="184343" cy="184343"/>
          </a:xfrm>
          <a:prstGeom prst="rect">
            <a:avLst/>
          </a:prstGeom>
        </p:spPr>
      </p:pic>
      <p:sp>
        <p:nvSpPr>
          <p:cNvPr id="19" name="Text 13"/>
          <p:cNvSpPr/>
          <p:nvPr/>
        </p:nvSpPr>
        <p:spPr>
          <a:xfrm>
            <a:off x="8028432" y="4133088"/>
            <a:ext cx="34290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Thin provisioning</a:t>
            </a:r>
            <a:endParaRPr lang="en-US" sz="1250" dirty="0"/>
          </a:p>
        </p:txBody>
      </p:sp>
      <p:sp>
        <p:nvSpPr>
          <p:cNvPr id="20" name="Text 14"/>
          <p:cNvSpPr/>
          <p:nvPr/>
        </p:nvSpPr>
        <p:spPr>
          <a:xfrm>
            <a:off x="8028432" y="4407408"/>
            <a:ext cx="3520440" cy="502920"/>
          </a:xfrm>
          <a:prstGeom prst="rect">
            <a:avLst/>
          </a:prstGeom>
          <a:noFill/>
          <a:ln/>
        </p:spPr>
        <p:txBody>
          <a:bodyPr wrap="square" lIns="0" tIns="0" rIns="0" bIns="0" rtlCol="0" anchor="ctr"/>
          <a:lstStyle/>
          <a:p>
            <a:pPr marL="0" indent="0">
              <a:buNone/>
            </a:pPr>
            <a:r>
              <a:rPr lang="en-US" sz="1050" dirty="0">
                <a:solidFill>
                  <a:srgbClr val="8CA0BC"/>
                </a:solidFill>
                <a:latin typeface="Calibri" pitchFamily="34" charset="0"/>
                <a:ea typeface="Calibri" pitchFamily="34" charset="-122"/>
                <a:cs typeface="Calibri" pitchFamily="34" charset="-120"/>
              </a:rPr>
              <a:t>Prevents VMware from instantly claiming 100+ GB of physical SSD space</a:t>
            </a:r>
            <a:endParaRPr lang="en-US" sz="1050" dirty="0"/>
          </a:p>
        </p:txBody>
      </p:sp>
      <p:sp>
        <p:nvSpPr>
          <p:cNvPr id="21" name="Text 15"/>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2" name="Text 16"/>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TOOLING</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55680" cy="3950208"/>
        </p:xfrm>
        <a:graphic>
          <a:graphicData uri="http://schemas.openxmlformats.org/drawingml/2006/table">
            <a:tbl>
              <a:tblPr/>
              <a:tblGrid>
                <a:gridCol w="21945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Technology</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Hypervisor</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VMware Workstation</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Dual-VM virtualization on one host</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1"/>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SIEM</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Wazuh 4.7.2</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Log ingestion, decoding, rule matching</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2"/>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SOAR</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Shuffle (latest ghcr.io)</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Webhook orchestration, JSON transform, API calls</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3"/>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Case Management</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TheHive 5.2 (:9000)</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Incident workflow &amp; alert tracking</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4"/>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Databases</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OpenSearch 2.11.0 · Cassandra 4.0</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Backend for Wazuh/Shuffle · Backend for TheHive</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5"/>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Telemetry</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Sysmon (SwiftOnSecurity config)</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Granular process, file, network events</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6"/>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Threat Intel</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AlienVault OTX · VirusTotal · AbuseIPDB</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Cloud IOC enrichment via Shuffle</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7"/>
                  </a:ext>
                </a:extLst>
              </a:tr>
              <a:tr h="43891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Adversary Emulation</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Atomic Red Team</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150" dirty="0">
                          <a:solidFill>
                            <a:srgbClr val="E8EEF5"/>
                          </a:solidFill>
                          <a:latin typeface="Calibri" pitchFamily="34" charset="0"/>
                          <a:ea typeface="Calibri" pitchFamily="34" charset="-122"/>
                          <a:cs typeface="Calibri" pitchFamily="34" charset="-120"/>
                        </a:rPr>
                        <a:t>Safe, mapped ATT&amp;CK technique execution</a:t>
                      </a:r>
                      <a:endParaRPr lang="en-US" sz="1150" dirty="0">
                        <a:latin typeface="Calibri" charset="0"/>
                        <a:ea typeface="Calibri" charset="0"/>
                        <a:cs typeface="Calibri" charset="0"/>
                      </a:endParaRPr>
                    </a:p>
                  </a:txBody>
                  <a:tcPr marL="76200" marR="76200" marT="76200" marB="762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8"/>
                  </a:ext>
                </a:extLst>
              </a:tr>
            </a:tbl>
          </a:graphicData>
        </a:graphic>
      </p:graphicFrame>
      <p:sp>
        <p:nvSpPr>
          <p:cNvPr id="7" name="Shape 3"/>
          <p:cNvSpPr/>
          <p:nvPr/>
        </p:nvSpPr>
        <p:spPr>
          <a:xfrm>
            <a:off x="502920" y="5806440"/>
            <a:ext cx="11155680" cy="685800"/>
          </a:xfrm>
          <a:prstGeom prst="roundRect">
            <a:avLst>
              <a:gd name="adj" fmla="val 8000"/>
            </a:avLst>
          </a:prstGeom>
          <a:solidFill>
            <a:srgbClr val="16233B"/>
          </a:solidFill>
          <a:ln/>
          <a:effectLst>
            <a:outerShdw blurRad="101600" dist="38100" dir="5400000" algn="bl" rotWithShape="0">
              <a:srgbClr val="000000">
                <a:alpha val="25000"/>
              </a:srgbClr>
            </a:outerShdw>
          </a:effectLst>
        </p:spPr>
        <p:txBody>
          <a:bodyPr/>
          <a:lstStyle/>
          <a:p>
            <a:endParaRPr lang="en-US"/>
          </a:p>
        </p:txBody>
      </p:sp>
      <p:sp>
        <p:nvSpPr>
          <p:cNvPr id="6" name="Text 4"/>
          <p:cNvSpPr/>
          <p:nvPr/>
        </p:nvSpPr>
        <p:spPr>
          <a:xfrm>
            <a:off x="777240" y="5806440"/>
            <a:ext cx="10607040" cy="68580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Dropped: </a:t>
            </a:r>
            <a:r>
              <a:rPr lang="en-US" sz="1200" dirty="0">
                <a:solidFill>
                  <a:srgbClr val="8CA0BC"/>
                </a:solidFill>
                <a:latin typeface="Calibri" pitchFamily="34" charset="0"/>
                <a:ea typeface="Calibri" pitchFamily="34" charset="-122"/>
                <a:cs typeface="Calibri" pitchFamily="34" charset="-120"/>
              </a:rPr>
              <a:t>MISP (2-4 GB RAM footprint) and Cortex — both removed to respect the 16 GB host budget; replaced by free cloud API nodes in Shuffle.</a:t>
            </a:r>
            <a:endParaRPr lang="en-US" sz="1200" dirty="0"/>
          </a:p>
        </p:txBody>
      </p:sp>
      <p:sp>
        <p:nvSpPr>
          <p:cNvPr id="9" name="Text 5"/>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10" name="Text 6"/>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07</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PIPELINE</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End-to-End Data Flow</a:t>
            </a:r>
            <a:endParaRPr lang="en-US" sz="3000" dirty="0"/>
          </a:p>
        </p:txBody>
      </p:sp>
      <p:sp>
        <p:nvSpPr>
          <p:cNvPr id="6" name="Shape 3"/>
          <p:cNvSpPr/>
          <p:nvPr/>
        </p:nvSpPr>
        <p:spPr>
          <a:xfrm>
            <a:off x="50292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93268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65825" y="2583729"/>
            <a:ext cx="245791" cy="245791"/>
          </a:xfrm>
          <a:prstGeom prst="rect">
            <a:avLst/>
          </a:prstGeom>
        </p:spPr>
      </p:pic>
      <p:sp>
        <p:nvSpPr>
          <p:cNvPr id="9" name="Text 5"/>
          <p:cNvSpPr/>
          <p:nvPr/>
        </p:nvSpPr>
        <p:spPr>
          <a:xfrm>
            <a:off x="36576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Endpoint</a:t>
            </a:r>
            <a:endParaRPr lang="en-US" sz="1050" dirty="0"/>
          </a:p>
        </p:txBody>
      </p:sp>
      <p:sp>
        <p:nvSpPr>
          <p:cNvPr id="10" name="Shape 6"/>
          <p:cNvSpPr/>
          <p:nvPr/>
        </p:nvSpPr>
        <p:spPr>
          <a:xfrm>
            <a:off x="1874520" y="2715768"/>
            <a:ext cx="259080" cy="0"/>
          </a:xfrm>
          <a:prstGeom prst="line">
            <a:avLst/>
          </a:prstGeom>
          <a:noFill/>
          <a:ln w="25400">
            <a:solidFill>
              <a:srgbClr val="22D3EE"/>
            </a:solidFill>
            <a:prstDash val="solid"/>
            <a:tailEnd type="triangle"/>
          </a:ln>
        </p:spPr>
        <p:txBody>
          <a:bodyPr/>
          <a:lstStyle/>
          <a:p>
            <a:endParaRPr lang="en-US"/>
          </a:p>
        </p:txBody>
      </p:sp>
      <p:sp>
        <p:nvSpPr>
          <p:cNvPr id="11" name="Shape 7"/>
          <p:cNvSpPr/>
          <p:nvPr/>
        </p:nvSpPr>
        <p:spPr>
          <a:xfrm>
            <a:off x="213360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2" name="Shape 8"/>
          <p:cNvSpPr/>
          <p:nvPr/>
        </p:nvSpPr>
        <p:spPr>
          <a:xfrm>
            <a:off x="256336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696505" y="2583729"/>
            <a:ext cx="245791" cy="245791"/>
          </a:xfrm>
          <a:prstGeom prst="rect">
            <a:avLst/>
          </a:prstGeom>
        </p:spPr>
      </p:pic>
      <p:sp>
        <p:nvSpPr>
          <p:cNvPr id="14" name="Text 9"/>
          <p:cNvSpPr/>
          <p:nvPr/>
        </p:nvSpPr>
        <p:spPr>
          <a:xfrm>
            <a:off x="199644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Sysmon</a:t>
            </a:r>
            <a:endParaRPr lang="en-US" sz="1050" dirty="0"/>
          </a:p>
        </p:txBody>
      </p:sp>
      <p:sp>
        <p:nvSpPr>
          <p:cNvPr id="15" name="Shape 10"/>
          <p:cNvSpPr/>
          <p:nvPr/>
        </p:nvSpPr>
        <p:spPr>
          <a:xfrm>
            <a:off x="3505200" y="2715768"/>
            <a:ext cx="259080" cy="0"/>
          </a:xfrm>
          <a:prstGeom prst="line">
            <a:avLst/>
          </a:prstGeom>
          <a:noFill/>
          <a:ln w="25400">
            <a:solidFill>
              <a:srgbClr val="22D3EE"/>
            </a:solidFill>
            <a:prstDash val="solid"/>
            <a:tailEnd type="triangle"/>
          </a:ln>
        </p:spPr>
        <p:txBody>
          <a:bodyPr/>
          <a:lstStyle/>
          <a:p>
            <a:endParaRPr lang="en-US"/>
          </a:p>
        </p:txBody>
      </p:sp>
      <p:sp>
        <p:nvSpPr>
          <p:cNvPr id="16" name="Shape 11"/>
          <p:cNvSpPr/>
          <p:nvPr/>
        </p:nvSpPr>
        <p:spPr>
          <a:xfrm>
            <a:off x="376428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7" name="Shape 12"/>
          <p:cNvSpPr/>
          <p:nvPr/>
        </p:nvSpPr>
        <p:spPr>
          <a:xfrm>
            <a:off x="419404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4327185" y="2583729"/>
            <a:ext cx="245791" cy="245791"/>
          </a:xfrm>
          <a:prstGeom prst="rect">
            <a:avLst/>
          </a:prstGeom>
        </p:spPr>
      </p:pic>
      <p:sp>
        <p:nvSpPr>
          <p:cNvPr id="19" name="Text 13"/>
          <p:cNvSpPr/>
          <p:nvPr/>
        </p:nvSpPr>
        <p:spPr>
          <a:xfrm>
            <a:off x="362712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Wazuh</a:t>
            </a:r>
            <a:endParaRPr lang="en-US" sz="1050" dirty="0"/>
          </a:p>
        </p:txBody>
      </p:sp>
      <p:sp>
        <p:nvSpPr>
          <p:cNvPr id="20" name="Shape 14"/>
          <p:cNvSpPr/>
          <p:nvPr/>
        </p:nvSpPr>
        <p:spPr>
          <a:xfrm>
            <a:off x="5135880" y="2715768"/>
            <a:ext cx="259080" cy="0"/>
          </a:xfrm>
          <a:prstGeom prst="line">
            <a:avLst/>
          </a:prstGeom>
          <a:noFill/>
          <a:ln w="25400">
            <a:solidFill>
              <a:srgbClr val="22D3EE"/>
            </a:solidFill>
            <a:prstDash val="solid"/>
            <a:tailEnd type="triangle"/>
          </a:ln>
        </p:spPr>
        <p:txBody>
          <a:bodyPr/>
          <a:lstStyle/>
          <a:p>
            <a:endParaRPr lang="en-US"/>
          </a:p>
        </p:txBody>
      </p:sp>
      <p:sp>
        <p:nvSpPr>
          <p:cNvPr id="21" name="Shape 15"/>
          <p:cNvSpPr/>
          <p:nvPr/>
        </p:nvSpPr>
        <p:spPr>
          <a:xfrm>
            <a:off x="539496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2" name="Shape 16"/>
          <p:cNvSpPr/>
          <p:nvPr/>
        </p:nvSpPr>
        <p:spPr>
          <a:xfrm>
            <a:off x="582472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5957865" y="2583729"/>
            <a:ext cx="245791" cy="245791"/>
          </a:xfrm>
          <a:prstGeom prst="rect">
            <a:avLst/>
          </a:prstGeom>
        </p:spPr>
      </p:pic>
      <p:sp>
        <p:nvSpPr>
          <p:cNvPr id="24" name="Text 17"/>
          <p:cNvSpPr/>
          <p:nvPr/>
        </p:nvSpPr>
        <p:spPr>
          <a:xfrm>
            <a:off x="525780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Python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Integration</a:t>
            </a:r>
            <a:endParaRPr lang="en-US" sz="1050" dirty="0"/>
          </a:p>
        </p:txBody>
      </p:sp>
      <p:sp>
        <p:nvSpPr>
          <p:cNvPr id="25" name="Shape 18"/>
          <p:cNvSpPr/>
          <p:nvPr/>
        </p:nvSpPr>
        <p:spPr>
          <a:xfrm>
            <a:off x="6766560" y="2715768"/>
            <a:ext cx="259080" cy="0"/>
          </a:xfrm>
          <a:prstGeom prst="line">
            <a:avLst/>
          </a:prstGeom>
          <a:noFill/>
          <a:ln w="25400">
            <a:solidFill>
              <a:srgbClr val="22D3EE"/>
            </a:solidFill>
            <a:prstDash val="solid"/>
            <a:tailEnd type="triangle"/>
          </a:ln>
        </p:spPr>
        <p:txBody>
          <a:bodyPr/>
          <a:lstStyle/>
          <a:p>
            <a:endParaRPr lang="en-US"/>
          </a:p>
        </p:txBody>
      </p:sp>
      <p:sp>
        <p:nvSpPr>
          <p:cNvPr id="26" name="Shape 19"/>
          <p:cNvSpPr/>
          <p:nvPr/>
        </p:nvSpPr>
        <p:spPr>
          <a:xfrm>
            <a:off x="702564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7" name="Shape 20"/>
          <p:cNvSpPr/>
          <p:nvPr/>
        </p:nvSpPr>
        <p:spPr>
          <a:xfrm>
            <a:off x="745540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7588545" y="2583729"/>
            <a:ext cx="245791" cy="245791"/>
          </a:xfrm>
          <a:prstGeom prst="rect">
            <a:avLst/>
          </a:prstGeom>
        </p:spPr>
      </p:pic>
      <p:sp>
        <p:nvSpPr>
          <p:cNvPr id="29" name="Text 21"/>
          <p:cNvSpPr/>
          <p:nvPr/>
        </p:nvSpPr>
        <p:spPr>
          <a:xfrm>
            <a:off x="688848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Shuffle</a:t>
            </a:r>
            <a:endParaRPr lang="en-US" sz="1050" dirty="0"/>
          </a:p>
        </p:txBody>
      </p:sp>
      <p:sp>
        <p:nvSpPr>
          <p:cNvPr id="30" name="Shape 22"/>
          <p:cNvSpPr/>
          <p:nvPr/>
        </p:nvSpPr>
        <p:spPr>
          <a:xfrm>
            <a:off x="8397240" y="2715768"/>
            <a:ext cx="259080" cy="0"/>
          </a:xfrm>
          <a:prstGeom prst="line">
            <a:avLst/>
          </a:prstGeom>
          <a:noFill/>
          <a:ln w="25400">
            <a:solidFill>
              <a:srgbClr val="22D3EE"/>
            </a:solidFill>
            <a:prstDash val="solid"/>
            <a:tailEnd type="triangle"/>
          </a:ln>
        </p:spPr>
        <p:txBody>
          <a:bodyPr/>
          <a:lstStyle/>
          <a:p>
            <a:endParaRPr lang="en-US"/>
          </a:p>
        </p:txBody>
      </p:sp>
      <p:sp>
        <p:nvSpPr>
          <p:cNvPr id="31" name="Shape 23"/>
          <p:cNvSpPr/>
          <p:nvPr/>
        </p:nvSpPr>
        <p:spPr>
          <a:xfrm>
            <a:off x="865632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32" name="Shape 24"/>
          <p:cNvSpPr/>
          <p:nvPr/>
        </p:nvSpPr>
        <p:spPr>
          <a:xfrm>
            <a:off x="908608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33" name="Image 6" descr="preencoded.png"/>
          <p:cNvPicPr>
            <a:picLocks noChangeAspect="1"/>
          </p:cNvPicPr>
          <p:nvPr/>
        </p:nvPicPr>
        <p:blipFill>
          <a:blip r:embed="rId9"/>
          <a:stretch>
            <a:fillRect/>
          </a:stretch>
        </p:blipFill>
        <p:spPr>
          <a:xfrm>
            <a:off x="9219225" y="2583729"/>
            <a:ext cx="245791" cy="245791"/>
          </a:xfrm>
          <a:prstGeom prst="rect">
            <a:avLst/>
          </a:prstGeom>
        </p:spPr>
      </p:pic>
      <p:sp>
        <p:nvSpPr>
          <p:cNvPr id="34" name="Text 25"/>
          <p:cNvSpPr/>
          <p:nvPr/>
        </p:nvSpPr>
        <p:spPr>
          <a:xfrm>
            <a:off x="851916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AlienVault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OTX</a:t>
            </a:r>
            <a:endParaRPr lang="en-US" sz="1050" dirty="0"/>
          </a:p>
        </p:txBody>
      </p:sp>
      <p:sp>
        <p:nvSpPr>
          <p:cNvPr id="35" name="Shape 26"/>
          <p:cNvSpPr/>
          <p:nvPr/>
        </p:nvSpPr>
        <p:spPr>
          <a:xfrm>
            <a:off x="10027920" y="2715768"/>
            <a:ext cx="259080" cy="0"/>
          </a:xfrm>
          <a:prstGeom prst="line">
            <a:avLst/>
          </a:prstGeom>
          <a:noFill/>
          <a:ln w="25400">
            <a:solidFill>
              <a:srgbClr val="22D3EE"/>
            </a:solidFill>
            <a:prstDash val="solid"/>
            <a:tailEnd type="triangle"/>
          </a:ln>
        </p:spPr>
        <p:txBody>
          <a:bodyPr/>
          <a:lstStyle/>
          <a:p>
            <a:endParaRPr lang="en-US"/>
          </a:p>
        </p:txBody>
      </p:sp>
      <p:sp>
        <p:nvSpPr>
          <p:cNvPr id="36" name="Shape 27"/>
          <p:cNvSpPr/>
          <p:nvPr/>
        </p:nvSpPr>
        <p:spPr>
          <a:xfrm>
            <a:off x="10287000" y="2286000"/>
            <a:ext cx="1371600" cy="1371600"/>
          </a:xfrm>
          <a:prstGeom prst="roundRect">
            <a:avLst>
              <a:gd name="adj" fmla="val 4000"/>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37" name="Shape 28"/>
          <p:cNvSpPr/>
          <p:nvPr/>
        </p:nvSpPr>
        <p:spPr>
          <a:xfrm>
            <a:off x="10716768" y="2450592"/>
            <a:ext cx="512064" cy="512064"/>
          </a:xfrm>
          <a:prstGeom prst="ellipse">
            <a:avLst/>
          </a:prstGeom>
          <a:solidFill>
            <a:srgbClr val="16233B"/>
          </a:solidFill>
          <a:ln w="12700">
            <a:solidFill>
              <a:srgbClr val="22314D"/>
            </a:solidFill>
            <a:prstDash val="solid"/>
          </a:ln>
        </p:spPr>
        <p:txBody>
          <a:bodyPr/>
          <a:lstStyle/>
          <a:p>
            <a:endParaRPr lang="en-US"/>
          </a:p>
        </p:txBody>
      </p:sp>
      <p:pic>
        <p:nvPicPr>
          <p:cNvPr id="38" name="Image 7" descr="preencoded.png"/>
          <p:cNvPicPr>
            <a:picLocks noChangeAspect="1"/>
          </p:cNvPicPr>
          <p:nvPr/>
        </p:nvPicPr>
        <p:blipFill>
          <a:blip r:embed="rId10"/>
          <a:stretch>
            <a:fillRect/>
          </a:stretch>
        </p:blipFill>
        <p:spPr>
          <a:xfrm>
            <a:off x="10849905" y="2583729"/>
            <a:ext cx="245791" cy="245791"/>
          </a:xfrm>
          <a:prstGeom prst="rect">
            <a:avLst/>
          </a:prstGeom>
        </p:spPr>
      </p:pic>
      <p:sp>
        <p:nvSpPr>
          <p:cNvPr id="39" name="Text 29"/>
          <p:cNvSpPr/>
          <p:nvPr/>
        </p:nvSpPr>
        <p:spPr>
          <a:xfrm>
            <a:off x="10149840" y="3063240"/>
            <a:ext cx="164592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TheHive</a:t>
            </a:r>
            <a:endParaRPr lang="en-US" sz="1050" dirty="0"/>
          </a:p>
        </p:txBody>
      </p:sp>
      <p:sp>
        <p:nvSpPr>
          <p:cNvPr id="40" name="Text 30"/>
          <p:cNvSpPr/>
          <p:nvPr/>
        </p:nvSpPr>
        <p:spPr>
          <a:xfrm>
            <a:off x="502920" y="4206240"/>
            <a:ext cx="11155680" cy="2011680"/>
          </a:xfrm>
          <a:prstGeom prst="rect">
            <a:avLst/>
          </a:prstGeom>
          <a:noFill/>
          <a:ln/>
        </p:spPr>
        <p:txBody>
          <a:bodyPr wrap="square" rtlCol="0" anchor="t"/>
          <a:lstStyle/>
          <a:p>
            <a:pPr marL="228600" indent="-228600">
              <a:spcAft>
                <a:spcPts val="1000"/>
              </a:spcAft>
              <a:buSzPct val="100000"/>
              <a:buChar char="•"/>
            </a:pPr>
            <a:r>
              <a:rPr lang="en-US" sz="1300" dirty="0">
                <a:solidFill>
                  <a:srgbClr val="E8EEF5"/>
                </a:solidFill>
                <a:latin typeface="Calibri" pitchFamily="34" charset="0"/>
                <a:ea typeface="Calibri" pitchFamily="34" charset="-122"/>
                <a:cs typeface="Calibri" pitchFamily="34" charset="-120"/>
              </a:rPr>
              <a:t>Telemetry from the Windows endpoint is captured by Sysmon and forwarded via the Wazuh Agent to the Manager.</a:t>
            </a:r>
            <a:endParaRPr lang="en-US" sz="1300" dirty="0"/>
          </a:p>
          <a:p>
            <a:pPr marL="228600" indent="-228600">
              <a:spcAft>
                <a:spcPts val="1000"/>
              </a:spcAft>
              <a:buSzPct val="100000"/>
              <a:buChar char="•"/>
            </a:pPr>
            <a:r>
              <a:rPr lang="en-US" sz="1300" dirty="0">
                <a:solidFill>
                  <a:srgbClr val="E8EEF5"/>
                </a:solidFill>
                <a:latin typeface="Calibri" pitchFamily="34" charset="0"/>
                <a:ea typeface="Calibri" pitchFamily="34" charset="-122"/>
                <a:cs typeface="Calibri" pitchFamily="34" charset="-120"/>
              </a:rPr>
              <a:t>Level-12 critical alerts trigger a Python integration script that posts JSON to Shuffle's webhook listener.</a:t>
            </a:r>
            <a:endParaRPr lang="en-US" sz="1300" dirty="0"/>
          </a:p>
          <a:p>
            <a:pPr marL="228600" indent="-228600">
              <a:spcAft>
                <a:spcPts val="1000"/>
              </a:spcAft>
              <a:buSzPct val="100000"/>
              <a:buChar char="•"/>
            </a:pPr>
            <a:r>
              <a:rPr lang="en-US" sz="1300" dirty="0">
                <a:solidFill>
                  <a:srgbClr val="E8EEF5"/>
                </a:solidFill>
                <a:latin typeface="Calibri" pitchFamily="34" charset="0"/>
                <a:ea typeface="Calibri" pitchFamily="34" charset="-122"/>
                <a:cs typeface="Calibri" pitchFamily="34" charset="-120"/>
              </a:rPr>
              <a:t>Shuffle sanitizes the payload, enriches indicators via AlienVault OTX, then issues a direct HTTP POST to TheHive to raise an Alert.</a:t>
            </a:r>
            <a:endParaRPr lang="en-US" sz="1300" dirty="0"/>
          </a:p>
        </p:txBody>
      </p:sp>
      <p:sp>
        <p:nvSpPr>
          <p:cNvPr id="41" name="Text 31"/>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42" name="Text 32"/>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08</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DETECTIONS</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Detection Engineering</a:t>
            </a:r>
            <a:endParaRPr lang="en-US" sz="3000" dirty="0"/>
          </a:p>
        </p:txBody>
      </p:sp>
      <p:sp>
        <p:nvSpPr>
          <p:cNvPr id="6" name="Text 3"/>
          <p:cNvSpPr/>
          <p:nvPr/>
        </p:nvSpPr>
        <p:spPr>
          <a:xfrm>
            <a:off x="502920" y="1600200"/>
            <a:ext cx="11155680" cy="914400"/>
          </a:xfrm>
          <a:prstGeom prst="rect">
            <a:avLst/>
          </a:prstGeom>
          <a:noFill/>
          <a:ln/>
        </p:spPr>
        <p:txBody>
          <a:bodyPr wrap="square" rtlCol="0" anchor="t"/>
          <a:lstStyle/>
          <a:p>
            <a:pPr marL="228600" indent="-228600">
              <a:spcAft>
                <a:spcPts val="800"/>
              </a:spcAft>
              <a:buSzPct val="100000"/>
              <a:buChar char="•"/>
            </a:pPr>
            <a:r>
              <a:rPr lang="en-US" sz="1300" dirty="0">
                <a:solidFill>
                  <a:srgbClr val="E8EEF5"/>
                </a:solidFill>
                <a:latin typeface="Calibri" pitchFamily="34" charset="0"/>
                <a:ea typeface="Calibri" pitchFamily="34" charset="-122"/>
                <a:cs typeface="Calibri" pitchFamily="34" charset="-120"/>
              </a:rPr>
              <a:t>Detections are engineered from Sigma-style logic, then hand-mapped to Wazuh custom XML rules — every rule carries an explicit MITRE ATT&amp;CK tag.</a:t>
            </a:r>
            <a:endParaRPr lang="en-US" sz="1300" dirty="0"/>
          </a:p>
          <a:p>
            <a:pPr marL="228600" indent="-228600">
              <a:spcAft>
                <a:spcPts val="800"/>
              </a:spcAft>
              <a:buSzPct val="100000"/>
              <a:buChar char="•"/>
            </a:pPr>
            <a:r>
              <a:rPr lang="en-US" sz="1300" dirty="0">
                <a:solidFill>
                  <a:srgbClr val="E8EEF5"/>
                </a:solidFill>
                <a:latin typeface="Calibri" pitchFamily="34" charset="0"/>
                <a:ea typeface="Calibri" pitchFamily="34" charset="-122"/>
                <a:cs typeface="Calibri" pitchFamily="34" charset="-120"/>
              </a:rPr>
              <a:t>All custom rules are elevated to Level 12 (“Critical”) so they trigger the Wazuh → Shuffle integration automatically.</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55680" cy="2834640"/>
        </p:xfrm>
        <a:graphic>
          <a:graphicData uri="http://schemas.openxmlformats.org/drawingml/2006/table">
            <a:tbl>
              <a:tblPr/>
              <a:tblGrid>
                <a:gridCol w="4206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22D3EE"/>
                          </a:solidFill>
                          <a:latin typeface="Calibri" pitchFamily="34" charset="0"/>
                          <a:ea typeface="Calibri" pitchFamily="34" charset="-122"/>
                          <a:cs typeface="Calibri" pitchFamily="34" charset="-120"/>
                        </a:rPr>
                        <a:t>MITRE Technique</a:t>
                      </a:r>
                      <a:endParaRPr lang="en-US" sz="1200" dirty="0">
                        <a:latin typeface="Calibri" charset="0"/>
                        <a:ea typeface="Calibri" charset="0"/>
                        <a:cs typeface="Calibri"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tc>
                  <a:txBody>
                    <a:bodyPr/>
                    <a:lstStyle/>
                    <a:p>
                      <a:pPr marL="0" indent="0">
                        <a:buNone/>
                      </a:pPr>
                      <a:r>
                        <a:rPr lang="en-US" sz="1200" b="1" dirty="0">
                          <a:solidFill>
                            <a:srgbClr val="22D3EE"/>
                          </a:solidFill>
                          <a:latin typeface="Courier New" pitchFamily="34" charset="0"/>
                          <a:ea typeface="Courier New" pitchFamily="34" charset="-122"/>
                          <a:cs typeface="Courier New" pitchFamily="34" charset="-120"/>
                        </a:rPr>
                        <a:t>Wazuh Rule</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tc>
                  <a:txBody>
                    <a:bodyPr/>
                    <a:lstStyle/>
                    <a:p>
                      <a:pPr marL="0" indent="0">
                        <a:buNone/>
                      </a:pPr>
                      <a:r>
                        <a:rPr lang="en-US" sz="1200" b="1" dirty="0">
                          <a:solidFill>
                            <a:srgbClr val="22D3EE"/>
                          </a:solidFill>
                          <a:latin typeface="Courier New" pitchFamily="34" charset="0"/>
                          <a:ea typeface="Courier New" pitchFamily="34" charset="-122"/>
                          <a:cs typeface="Courier New" pitchFamily="34" charset="-120"/>
                        </a:rPr>
                        <a:t>Detection Logic</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E8EEF5"/>
                          </a:solidFill>
                          <a:latin typeface="Calibri" pitchFamily="34" charset="0"/>
                          <a:ea typeface="Calibri" pitchFamily="34" charset="-122"/>
                          <a:cs typeface="Calibri" pitchFamily="34" charset="-120"/>
                        </a:rPr>
                        <a:t>T1033 — System Owner/User Discovery</a:t>
                      </a:r>
                      <a:endParaRPr lang="en-US" sz="1200" dirty="0">
                        <a:latin typeface="Calibri" charset="0"/>
                        <a:ea typeface="Calibri" charset="0"/>
                        <a:cs typeface="Calibri"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200" dirty="0">
                          <a:solidFill>
                            <a:srgbClr val="5EEAD4"/>
                          </a:solidFill>
                          <a:latin typeface="Courier New" pitchFamily="34" charset="0"/>
                          <a:ea typeface="Courier New" pitchFamily="34" charset="-122"/>
                          <a:cs typeface="Courier New" pitchFamily="34" charset="-120"/>
                        </a:rPr>
                        <a:t>100005 (Lvl 12)</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200" dirty="0">
                          <a:solidFill>
                            <a:srgbClr val="E8EEF5"/>
                          </a:solidFill>
                          <a:latin typeface="Courier New" pitchFamily="34" charset="0"/>
                          <a:ea typeface="Courier New" pitchFamily="34" charset="-122"/>
                          <a:cs typeface="Courier New" pitchFamily="34" charset="-120"/>
                        </a:rPr>
                        <a:t>whoami execution via sysmon_event1</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E8EEF5"/>
                          </a:solidFill>
                          <a:latin typeface="Calibri" pitchFamily="34" charset="0"/>
                          <a:ea typeface="Calibri" pitchFamily="34" charset="-122"/>
                          <a:cs typeface="Calibri" pitchFamily="34" charset="-120"/>
                        </a:rPr>
                        <a:t>T1003.001 — OS Credential Dumping: LSASS</a:t>
                      </a:r>
                      <a:endParaRPr lang="en-US" sz="1200" dirty="0">
                        <a:latin typeface="Calibri" charset="0"/>
                        <a:ea typeface="Calibri" charset="0"/>
                        <a:cs typeface="Calibri"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200" dirty="0">
                          <a:solidFill>
                            <a:srgbClr val="5EEAD4"/>
                          </a:solidFill>
                          <a:latin typeface="Courier New" pitchFamily="34" charset="0"/>
                          <a:ea typeface="Courier New" pitchFamily="34" charset="-122"/>
                          <a:cs typeface="Courier New" pitchFamily="34" charset="-120"/>
                        </a:rPr>
                        <a:t>100010 / 100011</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200" dirty="0">
                          <a:solidFill>
                            <a:srgbClr val="E8EEF5"/>
                          </a:solidFill>
                          <a:latin typeface="Courier New" pitchFamily="34" charset="0"/>
                          <a:ea typeface="Courier New" pitchFamily="34" charset="-122"/>
                          <a:cs typeface="Courier New" pitchFamily="34" charset="-120"/>
                        </a:rPr>
                        <a:t>lsass.exe access · comsvcs.dll MiniDump</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E8EEF5"/>
                          </a:solidFill>
                          <a:latin typeface="Calibri" pitchFamily="34" charset="0"/>
                          <a:ea typeface="Calibri" pitchFamily="34" charset="-122"/>
                          <a:cs typeface="Calibri" pitchFamily="34" charset="-120"/>
                        </a:rPr>
                        <a:t>T1003.002 — SAM Credential Dump</a:t>
                      </a:r>
                      <a:endParaRPr lang="en-US" sz="1200" dirty="0">
                        <a:latin typeface="Calibri" charset="0"/>
                        <a:ea typeface="Calibri" charset="0"/>
                        <a:cs typeface="Calibri"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200" dirty="0">
                          <a:solidFill>
                            <a:srgbClr val="5EEAD4"/>
                          </a:solidFill>
                          <a:latin typeface="Courier New" pitchFamily="34" charset="0"/>
                          <a:ea typeface="Courier New" pitchFamily="34" charset="-122"/>
                          <a:cs typeface="Courier New" pitchFamily="34" charset="-120"/>
                        </a:rPr>
                        <a:t>100015</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tc>
                  <a:txBody>
                    <a:bodyPr/>
                    <a:lstStyle/>
                    <a:p>
                      <a:pPr marL="0" indent="0">
                        <a:buNone/>
                      </a:pPr>
                      <a:r>
                        <a:rPr lang="en-US" sz="1200" dirty="0">
                          <a:solidFill>
                            <a:srgbClr val="E8EEF5"/>
                          </a:solidFill>
                          <a:latin typeface="Courier New" pitchFamily="34" charset="0"/>
                          <a:ea typeface="Courier New" pitchFamily="34" charset="-122"/>
                          <a:cs typeface="Courier New" pitchFamily="34" charset="-120"/>
                        </a:rPr>
                        <a:t>reg save on the SAM hive</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0A1220"/>
                    </a:solidFill>
                  </a:tcPr>
                </a:tc>
                <a:extLst>
                  <a:ext uri="{0D108BD9-81ED-4DB2-BD59-A6C34878D82A}">
                    <a16:rowId xmlns:a16="http://schemas.microsoft.com/office/drawing/2014/main" val="10003"/>
                  </a:ext>
                </a:extLst>
              </a:tr>
              <a:tr h="566928">
                <a:tc>
                  <a:txBody>
                    <a:bodyPr/>
                    <a:lstStyle/>
                    <a:p>
                      <a:pPr marL="0" indent="0">
                        <a:buNone/>
                      </a:pPr>
                      <a:r>
                        <a:rPr lang="en-US" sz="1200" dirty="0">
                          <a:solidFill>
                            <a:srgbClr val="E8EEF5"/>
                          </a:solidFill>
                          <a:latin typeface="Calibri" pitchFamily="34" charset="0"/>
                          <a:ea typeface="Calibri" pitchFamily="34" charset="-122"/>
                          <a:cs typeface="Calibri" pitchFamily="34" charset="-120"/>
                        </a:rPr>
                        <a:t>T1087.001 — Local Account Discovery</a:t>
                      </a:r>
                      <a:endParaRPr lang="en-US" sz="1200" dirty="0">
                        <a:latin typeface="Calibri" charset="0"/>
                        <a:ea typeface="Calibri" charset="0"/>
                        <a:cs typeface="Calibri"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200" dirty="0">
                          <a:solidFill>
                            <a:srgbClr val="5EEAD4"/>
                          </a:solidFill>
                          <a:latin typeface="Courier New" pitchFamily="34" charset="0"/>
                          <a:ea typeface="Courier New" pitchFamily="34" charset="-122"/>
                          <a:cs typeface="Courier New" pitchFamily="34" charset="-120"/>
                        </a:rPr>
                        <a:t>100016</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tc>
                  <a:txBody>
                    <a:bodyPr/>
                    <a:lstStyle/>
                    <a:p>
                      <a:pPr marL="0" indent="0">
                        <a:buNone/>
                      </a:pPr>
                      <a:r>
                        <a:rPr lang="en-US" sz="1200" dirty="0">
                          <a:solidFill>
                            <a:srgbClr val="E8EEF5"/>
                          </a:solidFill>
                          <a:latin typeface="Courier New" pitchFamily="34" charset="0"/>
                          <a:ea typeface="Courier New" pitchFamily="34" charset="-122"/>
                          <a:cs typeface="Courier New" pitchFamily="34" charset="-120"/>
                        </a:rPr>
                        <a:t>net(1)?.exe user | localgroup</a:t>
                      </a:r>
                      <a:endParaRPr lang="en-US" sz="1200" dirty="0">
                        <a:latin typeface="Courier New" charset="0"/>
                        <a:ea typeface="Courier New" charset="0"/>
                        <a:cs typeface="Courier New" charset="0"/>
                      </a:endParaRPr>
                    </a:p>
                  </a:txBody>
                  <a:tcPr marL="101600" marR="101600" marT="101600" marB="101600" anchor="ctr">
                    <a:lnL w="6350" cap="flat" cmpd="sng" algn="ctr">
                      <a:solidFill>
                        <a:srgbClr val="22314D"/>
                      </a:solidFill>
                      <a:prstDash val="solid"/>
                      <a:round/>
                      <a:headEnd type="none" w="med" len="med"/>
                      <a:tailEnd type="none" w="med" len="med"/>
                    </a:lnL>
                    <a:lnR w="6350" cap="flat" cmpd="sng" algn="ctr">
                      <a:solidFill>
                        <a:srgbClr val="22314D"/>
                      </a:solidFill>
                      <a:prstDash val="solid"/>
                      <a:round/>
                      <a:headEnd type="none" w="med" len="med"/>
                      <a:tailEnd type="none" w="med" len="med"/>
                    </a:lnR>
                    <a:lnT w="6350" cap="flat" cmpd="sng" algn="ctr">
                      <a:solidFill>
                        <a:srgbClr val="22314D"/>
                      </a:solidFill>
                      <a:prstDash val="solid"/>
                      <a:round/>
                      <a:headEnd type="none" w="med" len="med"/>
                      <a:tailEnd type="none" w="med" len="med"/>
                    </a:lnT>
                    <a:lnB w="6350" cap="flat" cmpd="sng" algn="ctr">
                      <a:solidFill>
                        <a:srgbClr val="22314D"/>
                      </a:solidFill>
                      <a:prstDash val="solid"/>
                      <a:round/>
                      <a:headEnd type="none" w="med" len="med"/>
                      <a:tailEnd type="none" w="med" len="med"/>
                    </a:lnB>
                    <a:solidFill>
                      <a:srgbClr val="121D31"/>
                    </a:solidFill>
                  </a:tcPr>
                </a:tc>
                <a:extLst>
                  <a:ext uri="{0D108BD9-81ED-4DB2-BD59-A6C34878D82A}">
                    <a16:rowId xmlns:a16="http://schemas.microsoft.com/office/drawing/2014/main" val="10004"/>
                  </a:ext>
                </a:extLst>
              </a:tr>
            </a:tbl>
          </a:graphicData>
        </a:graphic>
      </p:graphicFrame>
      <p:sp>
        <p:nvSpPr>
          <p:cNvPr id="8" name="Text 4"/>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9" name="Text 5"/>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09</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SOAR</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Automation Workflow — Shuffle</a:t>
            </a:r>
            <a:endParaRPr lang="en-US" sz="3000" dirty="0"/>
          </a:p>
        </p:txBody>
      </p:sp>
      <p:sp>
        <p:nvSpPr>
          <p:cNvPr id="6" name="Shape 3"/>
          <p:cNvSpPr/>
          <p:nvPr/>
        </p:nvSpPr>
        <p:spPr>
          <a:xfrm>
            <a:off x="502920" y="1783080"/>
            <a:ext cx="2514600" cy="1417320"/>
          </a:xfrm>
          <a:prstGeom prst="roundRect">
            <a:avLst>
              <a:gd name="adj" fmla="val 387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704088" y="1984248"/>
            <a:ext cx="438912" cy="438912"/>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18205" y="2098365"/>
            <a:ext cx="210678" cy="210678"/>
          </a:xfrm>
          <a:prstGeom prst="rect">
            <a:avLst/>
          </a:prstGeom>
        </p:spPr>
      </p:pic>
      <p:sp>
        <p:nvSpPr>
          <p:cNvPr id="9" name="Text 5"/>
          <p:cNvSpPr/>
          <p:nvPr/>
        </p:nvSpPr>
        <p:spPr>
          <a:xfrm>
            <a:off x="685800" y="2532888"/>
            <a:ext cx="214884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Webhook</a:t>
            </a:r>
            <a:endParaRPr lang="en-US" sz="1300" dirty="0"/>
          </a:p>
        </p:txBody>
      </p:sp>
      <p:sp>
        <p:nvSpPr>
          <p:cNvPr id="10" name="Text 6"/>
          <p:cNvSpPr/>
          <p:nvPr/>
        </p:nvSpPr>
        <p:spPr>
          <a:xfrm>
            <a:off x="685800" y="2788920"/>
            <a:ext cx="2148840" cy="457200"/>
          </a:xfrm>
          <a:prstGeom prst="rect">
            <a:avLst/>
          </a:prstGeom>
          <a:noFill/>
          <a:ln/>
        </p:spPr>
        <p:txBody>
          <a:bodyPr wrap="square" lIns="0" tIns="0" rIns="0" bIns="0" rtlCol="0" anchor="ctr"/>
          <a:lstStyle/>
          <a:p>
            <a:pPr marL="0" indent="0">
              <a:buNone/>
            </a:pPr>
            <a:r>
              <a:rPr lang="en-US" sz="950" dirty="0">
                <a:solidFill>
                  <a:srgbClr val="8CA0BC"/>
                </a:solidFill>
                <a:latin typeface="Calibri" pitchFamily="34" charset="0"/>
                <a:ea typeface="Calibri" pitchFamily="34" charset="-122"/>
                <a:cs typeface="Calibri" pitchFamily="34" charset="-120"/>
              </a:rPr>
              <a:t>Port 5001 — receives Wazuh Level-12 alert JSON</a:t>
            </a:r>
            <a:endParaRPr lang="en-US" sz="950" dirty="0"/>
          </a:p>
        </p:txBody>
      </p:sp>
      <p:sp>
        <p:nvSpPr>
          <p:cNvPr id="11" name="Shape 7"/>
          <p:cNvSpPr/>
          <p:nvPr/>
        </p:nvSpPr>
        <p:spPr>
          <a:xfrm>
            <a:off x="3017520" y="2491740"/>
            <a:ext cx="384048" cy="0"/>
          </a:xfrm>
          <a:prstGeom prst="line">
            <a:avLst/>
          </a:prstGeom>
          <a:noFill/>
          <a:ln w="25400">
            <a:solidFill>
              <a:srgbClr val="22D3EE"/>
            </a:solidFill>
            <a:prstDash val="solid"/>
            <a:tailEnd type="triangle"/>
          </a:ln>
        </p:spPr>
        <p:txBody>
          <a:bodyPr/>
          <a:lstStyle/>
          <a:p>
            <a:endParaRPr lang="en-US"/>
          </a:p>
        </p:txBody>
      </p:sp>
      <p:sp>
        <p:nvSpPr>
          <p:cNvPr id="12" name="Shape 8"/>
          <p:cNvSpPr/>
          <p:nvPr/>
        </p:nvSpPr>
        <p:spPr>
          <a:xfrm>
            <a:off x="3401568" y="1783080"/>
            <a:ext cx="2514600" cy="1417320"/>
          </a:xfrm>
          <a:prstGeom prst="roundRect">
            <a:avLst>
              <a:gd name="adj" fmla="val 387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3" name="Shape 9"/>
          <p:cNvSpPr/>
          <p:nvPr/>
        </p:nvSpPr>
        <p:spPr>
          <a:xfrm>
            <a:off x="3602736" y="1984248"/>
            <a:ext cx="438912" cy="438912"/>
          </a:xfrm>
          <a:prstGeom prst="ellipse">
            <a:avLst/>
          </a:prstGeom>
          <a:solidFill>
            <a:srgbClr val="16233B"/>
          </a:solidFill>
          <a:ln w="12700">
            <a:solidFill>
              <a:srgbClr val="22314D"/>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716853" y="2098365"/>
            <a:ext cx="210678" cy="210678"/>
          </a:xfrm>
          <a:prstGeom prst="rect">
            <a:avLst/>
          </a:prstGeom>
        </p:spPr>
      </p:pic>
      <p:sp>
        <p:nvSpPr>
          <p:cNvPr id="15" name="Text 10"/>
          <p:cNvSpPr/>
          <p:nvPr/>
        </p:nvSpPr>
        <p:spPr>
          <a:xfrm>
            <a:off x="3584448" y="2532888"/>
            <a:ext cx="214884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Regex Node</a:t>
            </a:r>
            <a:endParaRPr lang="en-US" sz="1300" dirty="0"/>
          </a:p>
        </p:txBody>
      </p:sp>
      <p:sp>
        <p:nvSpPr>
          <p:cNvPr id="16" name="Text 11"/>
          <p:cNvSpPr/>
          <p:nvPr/>
        </p:nvSpPr>
        <p:spPr>
          <a:xfrm>
            <a:off x="3584448" y="2788920"/>
            <a:ext cx="2148840" cy="457200"/>
          </a:xfrm>
          <a:prstGeom prst="rect">
            <a:avLst/>
          </a:prstGeom>
          <a:noFill/>
          <a:ln/>
        </p:spPr>
        <p:txBody>
          <a:bodyPr wrap="square" lIns="0" tIns="0" rIns="0" bIns="0" rtlCol="0" anchor="ctr"/>
          <a:lstStyle/>
          <a:p>
            <a:pPr marL="0" indent="0">
              <a:buNone/>
            </a:pPr>
            <a:r>
              <a:rPr lang="en-US" sz="950" dirty="0">
                <a:solidFill>
                  <a:srgbClr val="8CA0BC"/>
                </a:solidFill>
                <a:latin typeface="Calibri" pitchFamily="34" charset="0"/>
                <a:ea typeface="Calibri" pitchFamily="34" charset="-122"/>
                <a:cs typeface="Calibri" pitchFamily="34" charset="-120"/>
              </a:rPr>
              <a:t>Replaces \ with / in Windows paths to prevent JSON-escape crashes</a:t>
            </a:r>
            <a:endParaRPr lang="en-US" sz="950" dirty="0"/>
          </a:p>
        </p:txBody>
      </p:sp>
      <p:sp>
        <p:nvSpPr>
          <p:cNvPr id="17" name="Shape 12"/>
          <p:cNvSpPr/>
          <p:nvPr/>
        </p:nvSpPr>
        <p:spPr>
          <a:xfrm>
            <a:off x="5916168" y="2491740"/>
            <a:ext cx="384048" cy="0"/>
          </a:xfrm>
          <a:prstGeom prst="line">
            <a:avLst/>
          </a:prstGeom>
          <a:noFill/>
          <a:ln w="25400">
            <a:solidFill>
              <a:srgbClr val="22D3EE"/>
            </a:solidFill>
            <a:prstDash val="solid"/>
            <a:tailEnd type="triangle"/>
          </a:ln>
        </p:spPr>
        <p:txBody>
          <a:bodyPr/>
          <a:lstStyle/>
          <a:p>
            <a:endParaRPr lang="en-US"/>
          </a:p>
        </p:txBody>
      </p:sp>
      <p:sp>
        <p:nvSpPr>
          <p:cNvPr id="18" name="Shape 13"/>
          <p:cNvSpPr/>
          <p:nvPr/>
        </p:nvSpPr>
        <p:spPr>
          <a:xfrm>
            <a:off x="6300216" y="1783080"/>
            <a:ext cx="2514600" cy="1417320"/>
          </a:xfrm>
          <a:prstGeom prst="roundRect">
            <a:avLst>
              <a:gd name="adj" fmla="val 387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9" name="Shape 14"/>
          <p:cNvSpPr/>
          <p:nvPr/>
        </p:nvSpPr>
        <p:spPr>
          <a:xfrm>
            <a:off x="6501384" y="1984248"/>
            <a:ext cx="438912" cy="438912"/>
          </a:xfrm>
          <a:prstGeom prst="ellipse">
            <a:avLst/>
          </a:prstGeom>
          <a:solidFill>
            <a:srgbClr val="16233B"/>
          </a:solidFill>
          <a:ln w="12700">
            <a:solidFill>
              <a:srgbClr val="22314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615501" y="2098365"/>
            <a:ext cx="210678" cy="210678"/>
          </a:xfrm>
          <a:prstGeom prst="rect">
            <a:avLst/>
          </a:prstGeom>
        </p:spPr>
      </p:pic>
      <p:sp>
        <p:nvSpPr>
          <p:cNvPr id="21" name="Text 15"/>
          <p:cNvSpPr/>
          <p:nvPr/>
        </p:nvSpPr>
        <p:spPr>
          <a:xfrm>
            <a:off x="6483096" y="2532888"/>
            <a:ext cx="214884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AlienVault OTX</a:t>
            </a:r>
            <a:endParaRPr lang="en-US" sz="1300" dirty="0"/>
          </a:p>
        </p:txBody>
      </p:sp>
      <p:sp>
        <p:nvSpPr>
          <p:cNvPr id="22" name="Text 16"/>
          <p:cNvSpPr/>
          <p:nvPr/>
        </p:nvSpPr>
        <p:spPr>
          <a:xfrm>
            <a:off x="6483096" y="2788920"/>
            <a:ext cx="2148840" cy="457200"/>
          </a:xfrm>
          <a:prstGeom prst="rect">
            <a:avLst/>
          </a:prstGeom>
          <a:noFill/>
          <a:ln/>
        </p:spPr>
        <p:txBody>
          <a:bodyPr wrap="square" lIns="0" tIns="0" rIns="0" bIns="0" rtlCol="0" anchor="ctr"/>
          <a:lstStyle/>
          <a:p>
            <a:pPr marL="0" indent="0">
              <a:buNone/>
            </a:pPr>
            <a:r>
              <a:rPr lang="en-US" sz="950" dirty="0">
                <a:solidFill>
                  <a:srgbClr val="8CA0BC"/>
                </a:solidFill>
                <a:latin typeface="Calibri" pitchFamily="34" charset="0"/>
                <a:ea typeface="Calibri" pitchFamily="34" charset="-122"/>
                <a:cs typeface="Calibri" pitchFamily="34" charset="-120"/>
              </a:rPr>
              <a:t>GET ipv4 search — enriches extracted indicators</a:t>
            </a:r>
            <a:endParaRPr lang="en-US" sz="950" dirty="0"/>
          </a:p>
        </p:txBody>
      </p:sp>
      <p:sp>
        <p:nvSpPr>
          <p:cNvPr id="23" name="Shape 17"/>
          <p:cNvSpPr/>
          <p:nvPr/>
        </p:nvSpPr>
        <p:spPr>
          <a:xfrm>
            <a:off x="8814816" y="2491740"/>
            <a:ext cx="384048" cy="0"/>
          </a:xfrm>
          <a:prstGeom prst="line">
            <a:avLst/>
          </a:prstGeom>
          <a:noFill/>
          <a:ln w="25400">
            <a:solidFill>
              <a:srgbClr val="22D3EE"/>
            </a:solidFill>
            <a:prstDash val="solid"/>
            <a:tailEnd type="triangle"/>
          </a:ln>
        </p:spPr>
        <p:txBody>
          <a:bodyPr/>
          <a:lstStyle/>
          <a:p>
            <a:endParaRPr lang="en-US"/>
          </a:p>
        </p:txBody>
      </p:sp>
      <p:sp>
        <p:nvSpPr>
          <p:cNvPr id="24" name="Shape 18"/>
          <p:cNvSpPr/>
          <p:nvPr/>
        </p:nvSpPr>
        <p:spPr>
          <a:xfrm>
            <a:off x="9198864" y="1783080"/>
            <a:ext cx="2514600" cy="1417320"/>
          </a:xfrm>
          <a:prstGeom prst="roundRect">
            <a:avLst>
              <a:gd name="adj" fmla="val 387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5" name="Shape 19"/>
          <p:cNvSpPr/>
          <p:nvPr/>
        </p:nvSpPr>
        <p:spPr>
          <a:xfrm>
            <a:off x="9400032" y="1984248"/>
            <a:ext cx="438912" cy="438912"/>
          </a:xfrm>
          <a:prstGeom prst="ellipse">
            <a:avLst/>
          </a:prstGeom>
          <a:solidFill>
            <a:srgbClr val="16233B"/>
          </a:solidFill>
          <a:ln w="12700">
            <a:solidFill>
              <a:srgbClr val="22314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9514149" y="2098365"/>
            <a:ext cx="210678" cy="210678"/>
          </a:xfrm>
          <a:prstGeom prst="rect">
            <a:avLst/>
          </a:prstGeom>
        </p:spPr>
      </p:pic>
      <p:sp>
        <p:nvSpPr>
          <p:cNvPr id="27" name="Text 20"/>
          <p:cNvSpPr/>
          <p:nvPr/>
        </p:nvSpPr>
        <p:spPr>
          <a:xfrm>
            <a:off x="9381744" y="2532888"/>
            <a:ext cx="214884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HTTP POST</a:t>
            </a:r>
            <a:endParaRPr lang="en-US" sz="1300" dirty="0"/>
          </a:p>
        </p:txBody>
      </p:sp>
      <p:sp>
        <p:nvSpPr>
          <p:cNvPr id="28" name="Text 21"/>
          <p:cNvSpPr/>
          <p:nvPr/>
        </p:nvSpPr>
        <p:spPr>
          <a:xfrm>
            <a:off x="9381744" y="2788920"/>
            <a:ext cx="2148840" cy="457200"/>
          </a:xfrm>
          <a:prstGeom prst="rect">
            <a:avLst/>
          </a:prstGeom>
          <a:noFill/>
          <a:ln/>
        </p:spPr>
        <p:txBody>
          <a:bodyPr wrap="square" lIns="0" tIns="0" rIns="0" bIns="0" rtlCol="0" anchor="ctr"/>
          <a:lstStyle/>
          <a:p>
            <a:pPr marL="0" indent="0">
              <a:buNone/>
            </a:pPr>
            <a:r>
              <a:rPr lang="en-US" sz="950" dirty="0">
                <a:solidFill>
                  <a:srgbClr val="8CA0BC"/>
                </a:solidFill>
                <a:latin typeface="Calibri" pitchFamily="34" charset="0"/>
                <a:ea typeface="Calibri" pitchFamily="34" charset="-122"/>
                <a:cs typeface="Calibri" pitchFamily="34" charset="-120"/>
              </a:rPr>
              <a:t>Sends a hand-built, clean JSON payload directly to TheHive's API</a:t>
            </a:r>
            <a:endParaRPr lang="en-US" sz="950" dirty="0"/>
          </a:p>
        </p:txBody>
      </p:sp>
      <p:sp>
        <p:nvSpPr>
          <p:cNvPr id="29" name="Shape 22"/>
          <p:cNvSpPr/>
          <p:nvPr/>
        </p:nvSpPr>
        <p:spPr>
          <a:xfrm>
            <a:off x="502920" y="3566160"/>
            <a:ext cx="11155680" cy="2148840"/>
          </a:xfrm>
          <a:prstGeom prst="roundRect">
            <a:avLst>
              <a:gd name="adj" fmla="val 2553"/>
            </a:avLst>
          </a:prstGeom>
          <a:solidFill>
            <a:srgbClr val="16233B"/>
          </a:solidFill>
          <a:ln/>
          <a:effectLst>
            <a:outerShdw blurRad="101600" dist="38100" dir="5400000" algn="bl" rotWithShape="0">
              <a:srgbClr val="000000">
                <a:alpha val="25000"/>
              </a:srgbClr>
            </a:outerShdw>
          </a:effectLst>
        </p:spPr>
        <p:txBody>
          <a:bodyPr/>
          <a:lstStyle/>
          <a:p>
            <a:endParaRPr lang="en-US"/>
          </a:p>
        </p:txBody>
      </p:sp>
      <p:sp>
        <p:nvSpPr>
          <p:cNvPr id="30" name="Text 23"/>
          <p:cNvSpPr/>
          <p:nvPr/>
        </p:nvSpPr>
        <p:spPr>
          <a:xfrm>
            <a:off x="777240" y="3749040"/>
            <a:ext cx="5486400" cy="274320"/>
          </a:xfrm>
          <a:prstGeom prst="rect">
            <a:avLst/>
          </a:prstGeom>
          <a:noFill/>
          <a:ln/>
        </p:spPr>
        <p:txBody>
          <a:bodyPr wrap="square" lIns="0" tIns="0" rIns="0" bIns="0" rtlCol="0" anchor="ctr"/>
          <a:lstStyle/>
          <a:p>
            <a:pPr marL="0" indent="0">
              <a:buNone/>
            </a:pPr>
            <a:r>
              <a:rPr lang="en-US" sz="1100" b="1" kern="0" spc="150" dirty="0">
                <a:solidFill>
                  <a:srgbClr val="22D3EE"/>
                </a:solidFill>
                <a:latin typeface="Calibri" pitchFamily="34" charset="0"/>
                <a:ea typeface="Calibri" pitchFamily="34" charset="-122"/>
                <a:cs typeface="Calibri" pitchFamily="34" charset="-120"/>
              </a:rPr>
              <a:t>THEHIVE ALERT PAYLOAD (KEY FIELDS)</a:t>
            </a:r>
            <a:endParaRPr lang="en-US" sz="1100" dirty="0"/>
          </a:p>
        </p:txBody>
      </p:sp>
      <p:sp>
        <p:nvSpPr>
          <p:cNvPr id="31" name="Text 24"/>
          <p:cNvSpPr/>
          <p:nvPr/>
        </p:nvSpPr>
        <p:spPr>
          <a:xfrm>
            <a:off x="777240" y="4114800"/>
            <a:ext cx="10607040" cy="1463040"/>
          </a:xfrm>
          <a:prstGeom prst="rect">
            <a:avLst/>
          </a:prstGeom>
          <a:noFill/>
          <a:ln/>
        </p:spPr>
        <p:txBody>
          <a:bodyPr wrap="square" rtlCol="0" anchor="t"/>
          <a:lstStyle/>
          <a:p>
            <a:pPr marL="228600" indent="-228600">
              <a:spcAft>
                <a:spcPts val="800"/>
              </a:spcAft>
              <a:buSzPct val="100000"/>
              <a:buChar char="•"/>
            </a:pPr>
            <a:r>
              <a:rPr lang="en-US" sz="1200" dirty="0">
                <a:solidFill>
                  <a:srgbClr val="E8EEF5"/>
                </a:solidFill>
                <a:latin typeface="Calibri" pitchFamily="34" charset="0"/>
                <a:ea typeface="Calibri" pitchFamily="34" charset="-122"/>
                <a:cs typeface="Calibri" pitchFamily="34" charset="-120"/>
              </a:rPr>
              <a:t>Title ← $exec.rule.description  |  Source ← “Wazuh”  |  SourceRef ← $exec.id</a:t>
            </a:r>
            <a:endParaRPr lang="en-US" sz="1200" dirty="0"/>
          </a:p>
          <a:p>
            <a:pPr marL="228600" indent="-228600">
              <a:spcAft>
                <a:spcPts val="800"/>
              </a:spcAft>
              <a:buSzPct val="100000"/>
              <a:buChar char="•"/>
            </a:pPr>
            <a:r>
              <a:rPr lang="en-US" sz="1200" dirty="0">
                <a:solidFill>
                  <a:srgbClr val="E8EEF5"/>
                </a:solidFill>
                <a:latin typeface="Calibri" pitchFamily="34" charset="0"/>
                <a:ea typeface="Calibri" pitchFamily="34" charset="-122"/>
                <a:cs typeface="Calibri" pitchFamily="34" charset="-120"/>
              </a:rPr>
              <a:t>Summary ← agent name/IP, sanitized command line, and the OTX enrichment result</a:t>
            </a:r>
            <a:endParaRPr lang="en-US" sz="1200" dirty="0"/>
          </a:p>
          <a:p>
            <a:pPr marL="228600" indent="-228600">
              <a:spcAft>
                <a:spcPts val="800"/>
              </a:spcAft>
              <a:buSzPct val="100000"/>
              <a:buChar char="•"/>
            </a:pPr>
            <a:r>
              <a:rPr lang="en-US" sz="1200" dirty="0">
                <a:solidFill>
                  <a:srgbClr val="E8EEF5"/>
                </a:solidFill>
                <a:latin typeface="Calibri" pitchFamily="34" charset="0"/>
                <a:ea typeface="Calibri" pitchFamily="34" charset="-122"/>
                <a:cs typeface="Calibri" pitchFamily="34" charset="-120"/>
              </a:rPr>
              <a:t>Severity (1-4), TLP/PAP flags, and Tags: ["Sysmon", "Wazuh", "Enriched", "CRITICAL_INCIDENT"]</a:t>
            </a:r>
            <a:endParaRPr lang="en-US" sz="1200" dirty="0"/>
          </a:p>
        </p:txBody>
      </p:sp>
      <p:sp>
        <p:nvSpPr>
          <p:cNvPr id="32" name="Text 25"/>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33" name="Text 26"/>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10</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TROUBLESHOOTING</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Engineering Challenges</a:t>
            </a:r>
            <a:endParaRPr lang="en-US" sz="3000" dirty="0"/>
          </a:p>
        </p:txBody>
      </p:sp>
      <p:sp>
        <p:nvSpPr>
          <p:cNvPr id="6" name="Shape 3"/>
          <p:cNvSpPr/>
          <p:nvPr/>
        </p:nvSpPr>
        <p:spPr>
          <a:xfrm>
            <a:off x="502920" y="1645920"/>
            <a:ext cx="5394960" cy="2148840"/>
          </a:xfrm>
          <a:prstGeom prst="roundRect">
            <a:avLst>
              <a:gd name="adj" fmla="val 255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731520" y="1874520"/>
            <a:ext cx="402336" cy="402336"/>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836127" y="1979127"/>
            <a:ext cx="193121" cy="193121"/>
          </a:xfrm>
          <a:prstGeom prst="rect">
            <a:avLst/>
          </a:prstGeom>
        </p:spPr>
      </p:pic>
      <p:sp>
        <p:nvSpPr>
          <p:cNvPr id="9" name="Text 5"/>
          <p:cNvSpPr/>
          <p:nvPr/>
        </p:nvSpPr>
        <p:spPr>
          <a:xfrm>
            <a:off x="1280160" y="1901952"/>
            <a:ext cx="43891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Storage Exhaustion</a:t>
            </a:r>
            <a:endParaRPr lang="en-US" sz="1450" dirty="0"/>
          </a:p>
        </p:txBody>
      </p:sp>
      <p:sp>
        <p:nvSpPr>
          <p:cNvPr id="10" name="Text 6"/>
          <p:cNvSpPr/>
          <p:nvPr/>
        </p:nvSpPr>
        <p:spPr>
          <a:xfrm>
            <a:off x="731520" y="2423160"/>
            <a:ext cx="4937760" cy="1280160"/>
          </a:xfrm>
          <a:prstGeom prst="rect">
            <a:avLst/>
          </a:prstGeom>
          <a:noFill/>
          <a:ln/>
        </p:spPr>
        <p:txBody>
          <a:bodyPr wrap="square" lIns="0" tIns="0" rIns="0" bIns="0" rtlCol="0" anchor="t"/>
          <a:lstStyle/>
          <a:p>
            <a:pPr marL="0" indent="0">
              <a:buNone/>
            </a:pPr>
            <a:r>
              <a:rPr lang="en-US" sz="1050" b="1" dirty="0">
                <a:solidFill>
                  <a:srgbClr val="F43F5E"/>
                </a:solidFill>
                <a:latin typeface="Calibri" pitchFamily="34" charset="0"/>
                <a:ea typeface="Calibri" pitchFamily="34" charset="-122"/>
                <a:cs typeface="Calibri" pitchFamily="34" charset="-120"/>
              </a:rPr>
              <a:t>Problem: </a:t>
            </a:r>
            <a:r>
              <a:rPr lang="en-US" sz="1050" dirty="0">
                <a:solidFill>
                  <a:srgbClr val="8CA0BC"/>
                </a:solidFill>
                <a:latin typeface="Calibri" pitchFamily="34" charset="0"/>
                <a:ea typeface="Calibri" pitchFamily="34" charset="-122"/>
                <a:cs typeface="Calibri" pitchFamily="34" charset="-120"/>
              </a:rPr>
              <a:t>38 GB disk filled; OpenSearch threw cluster_block_exception, freezing TheHive &amp; Shuffle.  </a:t>
            </a:r>
            <a:r>
              <a:rPr lang="en-US" sz="1050" b="1" dirty="0">
                <a:solidFill>
                  <a:srgbClr val="34D399"/>
                </a:solidFill>
                <a:latin typeface="Calibri" pitchFamily="34" charset="0"/>
                <a:ea typeface="Calibri" pitchFamily="34" charset="-122"/>
                <a:cs typeface="Calibri" pitchFamily="34" charset="-120"/>
              </a:rPr>
              <a:t>Fix: </a:t>
            </a:r>
            <a:r>
              <a:rPr lang="en-US" sz="1050" dirty="0">
                <a:solidFill>
                  <a:srgbClr val="8CA0BC"/>
                </a:solidFill>
                <a:latin typeface="Calibri" pitchFamily="34" charset="0"/>
                <a:ea typeface="Calibri" pitchFamily="34" charset="-122"/>
                <a:cs typeface="Calibri" pitchFamily="34" charset="-120"/>
              </a:rPr>
              <a:t>Pruned Docker images/logs, unlocked the read-only index block, planned disk expansion.</a:t>
            </a:r>
            <a:endParaRPr lang="en-US" sz="1050" dirty="0"/>
          </a:p>
        </p:txBody>
      </p:sp>
      <p:sp>
        <p:nvSpPr>
          <p:cNvPr id="11" name="Shape 7"/>
          <p:cNvSpPr/>
          <p:nvPr/>
        </p:nvSpPr>
        <p:spPr>
          <a:xfrm>
            <a:off x="6217920" y="1645920"/>
            <a:ext cx="5394960" cy="2148840"/>
          </a:xfrm>
          <a:prstGeom prst="roundRect">
            <a:avLst>
              <a:gd name="adj" fmla="val 255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2" name="Shape 8"/>
          <p:cNvSpPr/>
          <p:nvPr/>
        </p:nvSpPr>
        <p:spPr>
          <a:xfrm>
            <a:off x="6446520" y="1874520"/>
            <a:ext cx="402336" cy="402336"/>
          </a:xfrm>
          <a:prstGeom prst="ellipse">
            <a:avLst/>
          </a:prstGeom>
          <a:solidFill>
            <a:srgbClr val="16233B"/>
          </a:solidFill>
          <a:ln w="12700">
            <a:solidFill>
              <a:srgbClr val="22314D"/>
            </a:solidFill>
            <a:prstDash val="solid"/>
          </a:ln>
        </p:spPr>
        <p:txBody>
          <a:bodyPr/>
          <a:lstStyle/>
          <a:p>
            <a:endParaRPr lang="en-US"/>
          </a:p>
        </p:txBody>
      </p:sp>
      <p:pic>
        <p:nvPicPr>
          <p:cNvPr id="13" name="Image 2" descr="preencoded.png"/>
          <p:cNvPicPr>
            <a:picLocks noChangeAspect="1"/>
          </p:cNvPicPr>
          <p:nvPr/>
        </p:nvPicPr>
        <p:blipFill>
          <a:blip r:embed="rId4"/>
          <a:stretch>
            <a:fillRect/>
          </a:stretch>
        </p:blipFill>
        <p:spPr>
          <a:xfrm>
            <a:off x="6551127" y="1979127"/>
            <a:ext cx="193121" cy="193121"/>
          </a:xfrm>
          <a:prstGeom prst="rect">
            <a:avLst/>
          </a:prstGeom>
        </p:spPr>
      </p:pic>
      <p:sp>
        <p:nvSpPr>
          <p:cNvPr id="14" name="Text 9"/>
          <p:cNvSpPr/>
          <p:nvPr/>
        </p:nvSpPr>
        <p:spPr>
          <a:xfrm>
            <a:off x="6995160" y="1901952"/>
            <a:ext cx="43891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JSON Escaping Crash</a:t>
            </a:r>
            <a:endParaRPr lang="en-US" sz="1450" dirty="0"/>
          </a:p>
        </p:txBody>
      </p:sp>
      <p:sp>
        <p:nvSpPr>
          <p:cNvPr id="15" name="Text 10"/>
          <p:cNvSpPr/>
          <p:nvPr/>
        </p:nvSpPr>
        <p:spPr>
          <a:xfrm>
            <a:off x="6446520" y="2423160"/>
            <a:ext cx="4937760" cy="1280160"/>
          </a:xfrm>
          <a:prstGeom prst="rect">
            <a:avLst/>
          </a:prstGeom>
          <a:noFill/>
          <a:ln/>
        </p:spPr>
        <p:txBody>
          <a:bodyPr wrap="square" lIns="0" tIns="0" rIns="0" bIns="0" rtlCol="0" anchor="t"/>
          <a:lstStyle/>
          <a:p>
            <a:pPr marL="0" indent="0">
              <a:buNone/>
            </a:pPr>
            <a:r>
              <a:rPr lang="en-US" sz="1050" b="1" dirty="0">
                <a:solidFill>
                  <a:srgbClr val="F43F5E"/>
                </a:solidFill>
                <a:latin typeface="Calibri" pitchFamily="34" charset="0"/>
                <a:ea typeface="Calibri" pitchFamily="34" charset="-122"/>
                <a:cs typeface="Calibri" pitchFamily="34" charset="-120"/>
              </a:rPr>
              <a:t>Problem: </a:t>
            </a:r>
            <a:r>
              <a:rPr lang="en-US" sz="1050" dirty="0">
                <a:solidFill>
                  <a:srgbClr val="8CA0BC"/>
                </a:solidFill>
                <a:latin typeface="Calibri" pitchFamily="34" charset="0"/>
                <a:ea typeface="Calibri" pitchFamily="34" charset="-122"/>
                <a:cs typeface="Calibri" pitchFamily="34" charset="-120"/>
              </a:rPr>
              <a:t>Windows paths (C:\\Users\\...) broke Shuffle's JSON parser on \\W / \\z sequences.  </a:t>
            </a:r>
            <a:r>
              <a:rPr lang="en-US" sz="1050" b="1" dirty="0">
                <a:solidFill>
                  <a:srgbClr val="34D399"/>
                </a:solidFill>
                <a:latin typeface="Calibri" pitchFamily="34" charset="0"/>
                <a:ea typeface="Calibri" pitchFamily="34" charset="-122"/>
                <a:cs typeface="Calibri" pitchFamily="34" charset="-120"/>
              </a:rPr>
              <a:t>Fix: </a:t>
            </a:r>
            <a:r>
              <a:rPr lang="en-US" sz="1050" dirty="0">
                <a:solidFill>
                  <a:srgbClr val="8CA0BC"/>
                </a:solidFill>
                <a:latin typeface="Calibri" pitchFamily="34" charset="0"/>
                <a:ea typeface="Calibri" pitchFamily="34" charset="-122"/>
                <a:cs typeface="Calibri" pitchFamily="34" charset="-120"/>
              </a:rPr>
              <a:t>json.dumps() in the Python webhook + a Shuffle Regex node converting \\ to /.</a:t>
            </a:r>
            <a:endParaRPr lang="en-US" sz="1050" dirty="0"/>
          </a:p>
        </p:txBody>
      </p:sp>
      <p:sp>
        <p:nvSpPr>
          <p:cNvPr id="16" name="Shape 11"/>
          <p:cNvSpPr/>
          <p:nvPr/>
        </p:nvSpPr>
        <p:spPr>
          <a:xfrm>
            <a:off x="502920" y="4050792"/>
            <a:ext cx="5394960" cy="2148840"/>
          </a:xfrm>
          <a:prstGeom prst="roundRect">
            <a:avLst>
              <a:gd name="adj" fmla="val 255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7" name="Shape 12"/>
          <p:cNvSpPr/>
          <p:nvPr/>
        </p:nvSpPr>
        <p:spPr>
          <a:xfrm>
            <a:off x="731520" y="4279392"/>
            <a:ext cx="402336" cy="402336"/>
          </a:xfrm>
          <a:prstGeom prst="ellipse">
            <a:avLst/>
          </a:prstGeom>
          <a:solidFill>
            <a:srgbClr val="16233B"/>
          </a:solidFill>
          <a:ln w="12700">
            <a:solidFill>
              <a:srgbClr val="22314D"/>
            </a:solidFill>
            <a:prstDash val="solid"/>
          </a:ln>
        </p:spPr>
        <p:txBody>
          <a:bodyPr/>
          <a:lstStyle/>
          <a:p>
            <a:endParaRPr lang="en-US"/>
          </a:p>
        </p:txBody>
      </p:sp>
      <p:pic>
        <p:nvPicPr>
          <p:cNvPr id="18" name="Image 3" descr="preencoded.png"/>
          <p:cNvPicPr>
            <a:picLocks noChangeAspect="1"/>
          </p:cNvPicPr>
          <p:nvPr/>
        </p:nvPicPr>
        <p:blipFill>
          <a:blip r:embed="rId4"/>
          <a:stretch>
            <a:fillRect/>
          </a:stretch>
        </p:blipFill>
        <p:spPr>
          <a:xfrm>
            <a:off x="836127" y="4383999"/>
            <a:ext cx="193121" cy="193121"/>
          </a:xfrm>
          <a:prstGeom prst="rect">
            <a:avLst/>
          </a:prstGeom>
        </p:spPr>
      </p:pic>
      <p:sp>
        <p:nvSpPr>
          <p:cNvPr id="19" name="Text 13"/>
          <p:cNvSpPr/>
          <p:nvPr/>
        </p:nvSpPr>
        <p:spPr>
          <a:xfrm>
            <a:off x="1280160" y="4306824"/>
            <a:ext cx="43891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TheHive Connector Bug</a:t>
            </a:r>
            <a:endParaRPr lang="en-US" sz="1450" dirty="0"/>
          </a:p>
        </p:txBody>
      </p:sp>
      <p:sp>
        <p:nvSpPr>
          <p:cNvPr id="20" name="Text 14"/>
          <p:cNvSpPr/>
          <p:nvPr/>
        </p:nvSpPr>
        <p:spPr>
          <a:xfrm>
            <a:off x="731520" y="4828032"/>
            <a:ext cx="4937760" cy="1280160"/>
          </a:xfrm>
          <a:prstGeom prst="rect">
            <a:avLst/>
          </a:prstGeom>
          <a:noFill/>
          <a:ln/>
        </p:spPr>
        <p:txBody>
          <a:bodyPr wrap="square" lIns="0" tIns="0" rIns="0" bIns="0" rtlCol="0" anchor="t"/>
          <a:lstStyle/>
          <a:p>
            <a:pPr marL="0" indent="0">
              <a:buNone/>
            </a:pPr>
            <a:r>
              <a:rPr lang="en-US" sz="1050" b="1" dirty="0">
                <a:solidFill>
                  <a:srgbClr val="F43F5E"/>
                </a:solidFill>
                <a:latin typeface="Calibri" pitchFamily="34" charset="0"/>
                <a:ea typeface="Calibri" pitchFamily="34" charset="-122"/>
                <a:cs typeface="Calibri" pitchFamily="34" charset="-120"/>
              </a:rPr>
              <a:t>Problem: </a:t>
            </a:r>
            <a:r>
              <a:rPr lang="en-US" sz="1050" dirty="0">
                <a:solidFill>
                  <a:srgbClr val="8CA0BC"/>
                </a:solidFill>
                <a:latin typeface="Calibri" pitchFamily="34" charset="0"/>
                <a:ea typeface="Calibri" pitchFamily="34" charset="-122"/>
                <a:cs typeface="Calibri" pitchFamily="34" charset="-120"/>
              </a:rPr>
              <a:t>Shuffle's graphical TheHive app sent unquoted ${flag} placeholders, crashing JSON parsing.  </a:t>
            </a:r>
            <a:r>
              <a:rPr lang="en-US" sz="1050" b="1" dirty="0">
                <a:solidFill>
                  <a:srgbClr val="34D399"/>
                </a:solidFill>
                <a:latin typeface="Calibri" pitchFamily="34" charset="0"/>
                <a:ea typeface="Calibri" pitchFamily="34" charset="-122"/>
                <a:cs typeface="Calibri" pitchFamily="34" charset="-120"/>
              </a:rPr>
              <a:t>Fix: </a:t>
            </a:r>
            <a:r>
              <a:rPr lang="en-US" sz="1050" dirty="0">
                <a:solidFill>
                  <a:srgbClr val="8CA0BC"/>
                </a:solidFill>
                <a:latin typeface="Calibri" pitchFamily="34" charset="0"/>
                <a:ea typeface="Calibri" pitchFamily="34" charset="-122"/>
                <a:cs typeface="Calibri" pitchFamily="34" charset="-120"/>
              </a:rPr>
              <a:t>Replaced the app node with a raw HTTP POST carrying a clean, hardcoded payload.</a:t>
            </a:r>
            <a:endParaRPr lang="en-US" sz="1050" dirty="0"/>
          </a:p>
        </p:txBody>
      </p:sp>
      <p:sp>
        <p:nvSpPr>
          <p:cNvPr id="21" name="Shape 15"/>
          <p:cNvSpPr/>
          <p:nvPr/>
        </p:nvSpPr>
        <p:spPr>
          <a:xfrm>
            <a:off x="6217920" y="4050792"/>
            <a:ext cx="5394960" cy="2148840"/>
          </a:xfrm>
          <a:prstGeom prst="roundRect">
            <a:avLst>
              <a:gd name="adj" fmla="val 2553"/>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2" name="Shape 16"/>
          <p:cNvSpPr/>
          <p:nvPr/>
        </p:nvSpPr>
        <p:spPr>
          <a:xfrm>
            <a:off x="6446520" y="4279392"/>
            <a:ext cx="402336" cy="402336"/>
          </a:xfrm>
          <a:prstGeom prst="ellipse">
            <a:avLst/>
          </a:prstGeom>
          <a:solidFill>
            <a:srgbClr val="16233B"/>
          </a:solidFill>
          <a:ln w="12700">
            <a:solidFill>
              <a:srgbClr val="22314D"/>
            </a:solidFill>
            <a:prstDash val="solid"/>
          </a:ln>
        </p:spPr>
        <p:txBody>
          <a:bodyPr/>
          <a:lstStyle/>
          <a:p>
            <a:endParaRPr lang="en-US"/>
          </a:p>
        </p:txBody>
      </p:sp>
      <p:pic>
        <p:nvPicPr>
          <p:cNvPr id="23" name="Image 4" descr="preencoded.png"/>
          <p:cNvPicPr>
            <a:picLocks noChangeAspect="1"/>
          </p:cNvPicPr>
          <p:nvPr/>
        </p:nvPicPr>
        <p:blipFill>
          <a:blip r:embed="rId4"/>
          <a:stretch>
            <a:fillRect/>
          </a:stretch>
        </p:blipFill>
        <p:spPr>
          <a:xfrm>
            <a:off x="6551127" y="4383999"/>
            <a:ext cx="193121" cy="193121"/>
          </a:xfrm>
          <a:prstGeom prst="rect">
            <a:avLst/>
          </a:prstGeom>
        </p:spPr>
      </p:pic>
      <p:sp>
        <p:nvSpPr>
          <p:cNvPr id="24" name="Text 17"/>
          <p:cNvSpPr/>
          <p:nvPr/>
        </p:nvSpPr>
        <p:spPr>
          <a:xfrm>
            <a:off x="6995160" y="4306824"/>
            <a:ext cx="4389120" cy="36576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Wazuh Docker SSL Mismatch</a:t>
            </a:r>
            <a:endParaRPr lang="en-US" sz="1450" dirty="0"/>
          </a:p>
        </p:txBody>
      </p:sp>
      <p:sp>
        <p:nvSpPr>
          <p:cNvPr id="25" name="Text 18"/>
          <p:cNvSpPr/>
          <p:nvPr/>
        </p:nvSpPr>
        <p:spPr>
          <a:xfrm>
            <a:off x="6446520" y="4828032"/>
            <a:ext cx="4937760" cy="1280160"/>
          </a:xfrm>
          <a:prstGeom prst="rect">
            <a:avLst/>
          </a:prstGeom>
          <a:noFill/>
          <a:ln/>
        </p:spPr>
        <p:txBody>
          <a:bodyPr wrap="square" lIns="0" tIns="0" rIns="0" bIns="0" rtlCol="0" anchor="t"/>
          <a:lstStyle/>
          <a:p>
            <a:pPr marL="0" indent="0">
              <a:buNone/>
            </a:pPr>
            <a:r>
              <a:rPr lang="en-US" sz="1050" b="1" dirty="0">
                <a:solidFill>
                  <a:srgbClr val="F43F5E"/>
                </a:solidFill>
                <a:latin typeface="Calibri" pitchFamily="34" charset="0"/>
                <a:ea typeface="Calibri" pitchFamily="34" charset="-122"/>
                <a:cs typeface="Calibri" pitchFamily="34" charset="-120"/>
              </a:rPr>
              <a:t>Problem: </a:t>
            </a:r>
            <a:r>
              <a:rPr lang="en-US" sz="1050" dirty="0">
                <a:solidFill>
                  <a:srgbClr val="8CA0BC"/>
                </a:solidFill>
                <a:latin typeface="Calibri" pitchFamily="34" charset="0"/>
                <a:ea typeface="Calibri" pitchFamily="34" charset="-122"/>
                <a:cs typeface="Calibri" pitchFamily="34" charset="-120"/>
              </a:rPr>
              <a:t>Containerized Wazuh threw x509 hostname errors (demo.indexer vs wazuh.indexer).  </a:t>
            </a:r>
            <a:r>
              <a:rPr lang="en-US" sz="1050" b="1" dirty="0">
                <a:solidFill>
                  <a:srgbClr val="34D399"/>
                </a:solidFill>
                <a:latin typeface="Calibri" pitchFamily="34" charset="0"/>
                <a:ea typeface="Calibri" pitchFamily="34" charset="-122"/>
                <a:cs typeface="Calibri" pitchFamily="34" charset="-120"/>
              </a:rPr>
              <a:t>Fix: </a:t>
            </a:r>
            <a:r>
              <a:rPr lang="en-US" sz="1050" dirty="0">
                <a:solidFill>
                  <a:srgbClr val="8CA0BC"/>
                </a:solidFill>
                <a:latin typeface="Calibri" pitchFamily="34" charset="0"/>
                <a:ea typeface="Calibri" pitchFamily="34" charset="-122"/>
                <a:cs typeface="Calibri" pitchFamily="34" charset="-120"/>
              </a:rPr>
              <a:t>Abandoned Dockerized Wazuh; moved to a native systemd installation.</a:t>
            </a:r>
            <a:endParaRPr lang="en-US" sz="1050" dirty="0"/>
          </a:p>
        </p:txBody>
      </p:sp>
      <p:sp>
        <p:nvSpPr>
          <p:cNvPr id="26" name="Text 19"/>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7" name="Text 20"/>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11</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REASONING</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Design Decisions — and Why</a:t>
            </a:r>
            <a:endParaRPr lang="en-US" sz="3000" dirty="0"/>
          </a:p>
        </p:txBody>
      </p:sp>
      <p:sp>
        <p:nvSpPr>
          <p:cNvPr id="6" name="Shape 3"/>
          <p:cNvSpPr/>
          <p:nvPr/>
        </p:nvSpPr>
        <p:spPr>
          <a:xfrm>
            <a:off x="502920" y="1645920"/>
            <a:ext cx="457200" cy="457200"/>
          </a:xfrm>
          <a:prstGeom prst="ellipse">
            <a:avLst/>
          </a:prstGeom>
          <a:solidFill>
            <a:srgbClr val="16233B"/>
          </a:solidFill>
          <a:ln w="12700">
            <a:solidFill>
              <a:srgbClr val="22314D"/>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21792" y="1764792"/>
            <a:ext cx="219456" cy="219456"/>
          </a:xfrm>
          <a:prstGeom prst="rect">
            <a:avLst/>
          </a:prstGeom>
        </p:spPr>
      </p:pic>
      <p:sp>
        <p:nvSpPr>
          <p:cNvPr id="8" name="Text 4"/>
          <p:cNvSpPr/>
          <p:nvPr/>
        </p:nvSpPr>
        <p:spPr>
          <a:xfrm>
            <a:off x="1143000" y="1618488"/>
            <a:ext cx="352044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Native Wazuh, not Docker</a:t>
            </a:r>
            <a:endParaRPr lang="en-US" sz="1400" dirty="0"/>
          </a:p>
        </p:txBody>
      </p:sp>
      <p:sp>
        <p:nvSpPr>
          <p:cNvPr id="9" name="Text 5"/>
          <p:cNvSpPr/>
          <p:nvPr/>
        </p:nvSpPr>
        <p:spPr>
          <a:xfrm>
            <a:off x="4846320" y="1618488"/>
            <a:ext cx="6812280" cy="50292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The Docker image's SSL certs are hardcoded for the wrong hostname. Native install (systemd) removed that entire failure class.</a:t>
            </a:r>
            <a:endParaRPr lang="en-US" sz="1200" dirty="0"/>
          </a:p>
        </p:txBody>
      </p:sp>
      <p:sp>
        <p:nvSpPr>
          <p:cNvPr id="10" name="Shape 6"/>
          <p:cNvSpPr/>
          <p:nvPr/>
        </p:nvSpPr>
        <p:spPr>
          <a:xfrm>
            <a:off x="502920" y="2487168"/>
            <a:ext cx="457200" cy="457200"/>
          </a:xfrm>
          <a:prstGeom prst="ellipse">
            <a:avLst/>
          </a:prstGeom>
          <a:solidFill>
            <a:srgbClr val="16233B"/>
          </a:solidFill>
          <a:ln w="12700">
            <a:solidFill>
              <a:srgbClr val="22314D"/>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621792" y="2606040"/>
            <a:ext cx="219456" cy="219456"/>
          </a:xfrm>
          <a:prstGeom prst="rect">
            <a:avLst/>
          </a:prstGeom>
        </p:spPr>
      </p:pic>
      <p:sp>
        <p:nvSpPr>
          <p:cNvPr id="12" name="Text 7"/>
          <p:cNvSpPr/>
          <p:nvPr/>
        </p:nvSpPr>
        <p:spPr>
          <a:xfrm>
            <a:off x="1143000" y="2459736"/>
            <a:ext cx="352044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Docker for the rest of the stack</a:t>
            </a:r>
            <a:endParaRPr lang="en-US" sz="1400" dirty="0"/>
          </a:p>
        </p:txBody>
      </p:sp>
      <p:sp>
        <p:nvSpPr>
          <p:cNvPr id="13" name="Text 8"/>
          <p:cNvSpPr/>
          <p:nvPr/>
        </p:nvSpPr>
        <p:spPr>
          <a:xfrm>
            <a:off x="4846320" y="2459736"/>
            <a:ext cx="6812280" cy="50292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Shuffle, TheHive, and Cassandra gain resource isolation and portability without the certificate baggage Wazuh's image carried.</a:t>
            </a:r>
            <a:endParaRPr lang="en-US" sz="1200" dirty="0"/>
          </a:p>
        </p:txBody>
      </p:sp>
      <p:sp>
        <p:nvSpPr>
          <p:cNvPr id="14" name="Shape 9"/>
          <p:cNvSpPr/>
          <p:nvPr/>
        </p:nvSpPr>
        <p:spPr>
          <a:xfrm>
            <a:off x="502920" y="3328416"/>
            <a:ext cx="457200" cy="457200"/>
          </a:xfrm>
          <a:prstGeom prst="ellipse">
            <a:avLst/>
          </a:prstGeom>
          <a:solidFill>
            <a:srgbClr val="16233B"/>
          </a:solidFill>
          <a:ln w="12700">
            <a:solidFill>
              <a:srgbClr val="22314D"/>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621792" y="3447288"/>
            <a:ext cx="219456" cy="219456"/>
          </a:xfrm>
          <a:prstGeom prst="rect">
            <a:avLst/>
          </a:prstGeom>
        </p:spPr>
      </p:pic>
      <p:sp>
        <p:nvSpPr>
          <p:cNvPr id="16" name="Text 10"/>
          <p:cNvSpPr/>
          <p:nvPr/>
        </p:nvSpPr>
        <p:spPr>
          <a:xfrm>
            <a:off x="1143000" y="3300984"/>
            <a:ext cx="352044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HTTP node instead of TheHive connector</a:t>
            </a:r>
            <a:endParaRPr lang="en-US" sz="1400" dirty="0"/>
          </a:p>
        </p:txBody>
      </p:sp>
      <p:sp>
        <p:nvSpPr>
          <p:cNvPr id="17" name="Text 11"/>
          <p:cNvSpPr/>
          <p:nvPr/>
        </p:nvSpPr>
        <p:spPr>
          <a:xfrm>
            <a:off x="4846320" y="3300984"/>
            <a:ext cx="6812280" cy="50292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The graphical connector injected unquoted placeholders. A hand-built HTTP POST guarantees valid JSON every time.</a:t>
            </a:r>
            <a:endParaRPr lang="en-US" sz="1200" dirty="0"/>
          </a:p>
        </p:txBody>
      </p:sp>
      <p:sp>
        <p:nvSpPr>
          <p:cNvPr id="18" name="Shape 12"/>
          <p:cNvSpPr/>
          <p:nvPr/>
        </p:nvSpPr>
        <p:spPr>
          <a:xfrm>
            <a:off x="502920" y="4169664"/>
            <a:ext cx="457200" cy="457200"/>
          </a:xfrm>
          <a:prstGeom prst="ellipse">
            <a:avLst/>
          </a:prstGeom>
          <a:solidFill>
            <a:srgbClr val="16233B"/>
          </a:solidFill>
          <a:ln w="12700">
            <a:solidFill>
              <a:srgbClr val="22314D"/>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621792" y="4288536"/>
            <a:ext cx="219456" cy="219456"/>
          </a:xfrm>
          <a:prstGeom prst="rect">
            <a:avLst/>
          </a:prstGeom>
        </p:spPr>
      </p:pic>
      <p:sp>
        <p:nvSpPr>
          <p:cNvPr id="20" name="Text 13"/>
          <p:cNvSpPr/>
          <p:nvPr/>
        </p:nvSpPr>
        <p:spPr>
          <a:xfrm>
            <a:off x="1143000" y="4142232"/>
            <a:ext cx="352044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Cloud threat intel over local MISP</a:t>
            </a:r>
            <a:endParaRPr lang="en-US" sz="1400" dirty="0"/>
          </a:p>
        </p:txBody>
      </p:sp>
      <p:sp>
        <p:nvSpPr>
          <p:cNvPr id="21" name="Text 14"/>
          <p:cNvSpPr/>
          <p:nvPr/>
        </p:nvSpPr>
        <p:spPr>
          <a:xfrm>
            <a:off x="4846320" y="4142232"/>
            <a:ext cx="6812280" cy="50292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MISP alone needs 2-4 GB RAM. AlienVault OTX delivers the same enrichment over a free API call.</a:t>
            </a:r>
            <a:endParaRPr lang="en-US" sz="1200" dirty="0"/>
          </a:p>
        </p:txBody>
      </p:sp>
      <p:sp>
        <p:nvSpPr>
          <p:cNvPr id="22" name="Shape 15"/>
          <p:cNvSpPr/>
          <p:nvPr/>
        </p:nvSpPr>
        <p:spPr>
          <a:xfrm>
            <a:off x="502920" y="5010912"/>
            <a:ext cx="457200" cy="457200"/>
          </a:xfrm>
          <a:prstGeom prst="ellipse">
            <a:avLst/>
          </a:prstGeom>
          <a:solidFill>
            <a:srgbClr val="16233B"/>
          </a:solidFill>
          <a:ln w="12700">
            <a:solidFill>
              <a:srgbClr val="22314D"/>
            </a:solidFill>
            <a:prstDash val="solid"/>
          </a:ln>
        </p:spPr>
        <p:txBody>
          <a:bodyPr/>
          <a:lstStyle/>
          <a:p>
            <a:endParaRPr lang="en-US"/>
          </a:p>
        </p:txBody>
      </p:sp>
      <p:pic>
        <p:nvPicPr>
          <p:cNvPr id="23" name="Image 5" descr="preencoded.png"/>
          <p:cNvPicPr>
            <a:picLocks noChangeAspect="1"/>
          </p:cNvPicPr>
          <p:nvPr/>
        </p:nvPicPr>
        <p:blipFill>
          <a:blip r:embed="rId8"/>
          <a:stretch>
            <a:fillRect/>
          </a:stretch>
        </p:blipFill>
        <p:spPr>
          <a:xfrm>
            <a:off x="621792" y="5129784"/>
            <a:ext cx="219456" cy="219456"/>
          </a:xfrm>
          <a:prstGeom prst="rect">
            <a:avLst/>
          </a:prstGeom>
        </p:spPr>
      </p:pic>
      <p:sp>
        <p:nvSpPr>
          <p:cNvPr id="24" name="Text 16"/>
          <p:cNvSpPr/>
          <p:nvPr/>
        </p:nvSpPr>
        <p:spPr>
          <a:xfrm>
            <a:off x="1143000" y="4983480"/>
            <a:ext cx="352044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Thin provisioning everywhere</a:t>
            </a:r>
            <a:endParaRPr lang="en-US" sz="1400" dirty="0"/>
          </a:p>
        </p:txBody>
      </p:sp>
      <p:sp>
        <p:nvSpPr>
          <p:cNvPr id="25" name="Text 17"/>
          <p:cNvSpPr/>
          <p:nvPr/>
        </p:nvSpPr>
        <p:spPr>
          <a:xfrm>
            <a:off x="4846320" y="4983480"/>
            <a:ext cx="6812280" cy="502920"/>
          </a:xfrm>
          <a:prstGeom prst="rect">
            <a:avLst/>
          </a:prstGeom>
          <a:noFill/>
          <a:ln/>
        </p:spPr>
        <p:txBody>
          <a:bodyPr wrap="square" lIns="0" tIns="0" rIns="0" bIns="0" rtlCol="0" anchor="ctr"/>
          <a:lstStyle/>
          <a:p>
            <a:pPr marL="0" indent="0">
              <a:buNone/>
            </a:pPr>
            <a:r>
              <a:rPr lang="en-US" sz="1200" dirty="0">
                <a:solidFill>
                  <a:srgbClr val="8CA0BC"/>
                </a:solidFill>
                <a:latin typeface="Calibri" pitchFamily="34" charset="0"/>
                <a:ea typeface="Calibri" pitchFamily="34" charset="-122"/>
                <a:cs typeface="Calibri" pitchFamily="34" charset="-120"/>
              </a:rPr>
              <a:t>Keeps VMware from instantly claiming 100+ GB of physical SSD, preserving disk headroom on a constrained laptop.</a:t>
            </a:r>
            <a:endParaRPr lang="en-US" sz="1200" dirty="0"/>
          </a:p>
        </p:txBody>
      </p:sp>
      <p:sp>
        <p:nvSpPr>
          <p:cNvPr id="26" name="Text 18"/>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7" name="Text 19"/>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LIVE RESULTS</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Demonstration Results</a:t>
            </a:r>
            <a:endParaRPr lang="en-US" sz="3000" dirty="0"/>
          </a:p>
        </p:txBody>
      </p:sp>
      <p:sp>
        <p:nvSpPr>
          <p:cNvPr id="6" name="Shape 3"/>
          <p:cNvSpPr/>
          <p:nvPr/>
        </p:nvSpPr>
        <p:spPr>
          <a:xfrm>
            <a:off x="502920" y="1691640"/>
            <a:ext cx="2606040" cy="3840480"/>
          </a:xfrm>
          <a:prstGeom prst="roundRect">
            <a:avLst>
              <a:gd name="adj" fmla="val 2105"/>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1513332" y="2011680"/>
            <a:ext cx="585216" cy="585216"/>
          </a:xfrm>
          <a:prstGeom prst="ellipse">
            <a:avLst/>
          </a:prstGeom>
          <a:solidFill>
            <a:srgbClr val="16233B"/>
          </a:solidFill>
          <a:ln w="12700">
            <a:solidFill>
              <a:srgbClr val="22314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665488" y="2163836"/>
            <a:ext cx="280904" cy="280904"/>
          </a:xfrm>
          <a:prstGeom prst="rect">
            <a:avLst/>
          </a:prstGeom>
        </p:spPr>
      </p:pic>
      <p:sp>
        <p:nvSpPr>
          <p:cNvPr id="9" name="Text 5"/>
          <p:cNvSpPr/>
          <p:nvPr/>
        </p:nvSpPr>
        <p:spPr>
          <a:xfrm>
            <a:off x="640080" y="2788920"/>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Detection</a:t>
            </a:r>
            <a:endParaRPr lang="en-US" sz="1500" dirty="0"/>
          </a:p>
        </p:txBody>
      </p:sp>
      <p:sp>
        <p:nvSpPr>
          <p:cNvPr id="10" name="Text 6"/>
          <p:cNvSpPr/>
          <p:nvPr/>
        </p:nvSpPr>
        <p:spPr>
          <a:xfrm>
            <a:off x="731520" y="3246120"/>
            <a:ext cx="2148840" cy="2103120"/>
          </a:xfrm>
          <a:prstGeom prst="rect">
            <a:avLst/>
          </a:prstGeom>
          <a:noFill/>
          <a:ln/>
        </p:spPr>
        <p:txBody>
          <a:bodyPr wrap="square" lIns="0" tIns="0" rIns="0" bIns="0" rtlCol="0" anchor="ctr"/>
          <a:lstStyle/>
          <a:p>
            <a:pPr marL="0" indent="0" algn="ctr">
              <a:buNone/>
            </a:pPr>
            <a:r>
              <a:rPr lang="en-US" sz="1100" dirty="0">
                <a:solidFill>
                  <a:srgbClr val="8CA0BC"/>
                </a:solidFill>
                <a:latin typeface="Calibri" pitchFamily="34" charset="0"/>
                <a:ea typeface="Calibri" pitchFamily="34" charset="-122"/>
                <a:cs typeface="Calibri" pitchFamily="34" charset="-120"/>
              </a:rPr>
              <a:t>Wazuh matches custom rules; whoami &amp; Atomic Red Team executions elevate to Level 12 critical.</a:t>
            </a:r>
            <a:endParaRPr lang="en-US" sz="1100" dirty="0"/>
          </a:p>
        </p:txBody>
      </p:sp>
      <p:sp>
        <p:nvSpPr>
          <p:cNvPr id="11" name="Shape 7"/>
          <p:cNvSpPr/>
          <p:nvPr/>
        </p:nvSpPr>
        <p:spPr>
          <a:xfrm>
            <a:off x="1120140" y="5120640"/>
            <a:ext cx="1371600" cy="292608"/>
          </a:xfrm>
          <a:prstGeom prst="roundRect">
            <a:avLst>
              <a:gd name="adj" fmla="val 50000"/>
            </a:avLst>
          </a:prstGeom>
          <a:solidFill>
            <a:srgbClr val="16233B"/>
          </a:solidFill>
          <a:ln/>
        </p:spPr>
        <p:txBody>
          <a:bodyPr/>
          <a:lstStyle/>
          <a:p>
            <a:endParaRPr lang="en-US"/>
          </a:p>
        </p:txBody>
      </p:sp>
      <p:sp>
        <p:nvSpPr>
          <p:cNvPr id="12" name="Text 8"/>
          <p:cNvSpPr/>
          <p:nvPr/>
        </p:nvSpPr>
        <p:spPr>
          <a:xfrm>
            <a:off x="1120140" y="5120640"/>
            <a:ext cx="1371600" cy="292608"/>
          </a:xfrm>
          <a:prstGeom prst="rect">
            <a:avLst/>
          </a:prstGeom>
          <a:noFill/>
          <a:ln/>
        </p:spPr>
        <p:txBody>
          <a:bodyPr wrap="square" lIns="0" tIns="0" rIns="0" bIns="0" rtlCol="0" anchor="ctr"/>
          <a:lstStyle/>
          <a:p>
            <a:pPr marL="0" indent="0" algn="ctr">
              <a:buNone/>
            </a:pPr>
            <a:r>
              <a:rPr lang="en-US" sz="1100" b="1" dirty="0">
                <a:solidFill>
                  <a:srgbClr val="34D399"/>
                </a:solidFill>
                <a:latin typeface="Calibri" pitchFamily="34" charset="0"/>
                <a:ea typeface="Calibri" pitchFamily="34" charset="-122"/>
                <a:cs typeface="Calibri" pitchFamily="34" charset="-120"/>
              </a:rPr>
              <a:t>OPERATIONAL</a:t>
            </a:r>
            <a:endParaRPr lang="en-US" sz="1100" dirty="0"/>
          </a:p>
        </p:txBody>
      </p:sp>
      <p:sp>
        <p:nvSpPr>
          <p:cNvPr id="13" name="Shape 9"/>
          <p:cNvSpPr/>
          <p:nvPr/>
        </p:nvSpPr>
        <p:spPr>
          <a:xfrm>
            <a:off x="3108960" y="3611880"/>
            <a:ext cx="256032" cy="0"/>
          </a:xfrm>
          <a:prstGeom prst="line">
            <a:avLst/>
          </a:prstGeom>
          <a:noFill/>
          <a:ln w="22225">
            <a:solidFill>
              <a:srgbClr val="22D3EE"/>
            </a:solidFill>
            <a:prstDash val="solid"/>
            <a:tailEnd type="triangle"/>
          </a:ln>
        </p:spPr>
        <p:txBody>
          <a:bodyPr/>
          <a:lstStyle/>
          <a:p>
            <a:endParaRPr lang="en-US"/>
          </a:p>
        </p:txBody>
      </p:sp>
      <p:sp>
        <p:nvSpPr>
          <p:cNvPr id="14" name="Shape 10"/>
          <p:cNvSpPr/>
          <p:nvPr/>
        </p:nvSpPr>
        <p:spPr>
          <a:xfrm>
            <a:off x="3364992" y="1691640"/>
            <a:ext cx="2606040" cy="3840480"/>
          </a:xfrm>
          <a:prstGeom prst="roundRect">
            <a:avLst>
              <a:gd name="adj" fmla="val 2105"/>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5" name="Shape 11"/>
          <p:cNvSpPr/>
          <p:nvPr/>
        </p:nvSpPr>
        <p:spPr>
          <a:xfrm>
            <a:off x="4375404" y="2011680"/>
            <a:ext cx="585216" cy="585216"/>
          </a:xfrm>
          <a:prstGeom prst="ellipse">
            <a:avLst/>
          </a:prstGeom>
          <a:solidFill>
            <a:srgbClr val="16233B"/>
          </a:solidFill>
          <a:ln w="12700">
            <a:solidFill>
              <a:srgbClr val="22314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527560" y="2163836"/>
            <a:ext cx="280904" cy="280904"/>
          </a:xfrm>
          <a:prstGeom prst="rect">
            <a:avLst/>
          </a:prstGeom>
        </p:spPr>
      </p:pic>
      <p:sp>
        <p:nvSpPr>
          <p:cNvPr id="17" name="Text 12"/>
          <p:cNvSpPr/>
          <p:nvPr/>
        </p:nvSpPr>
        <p:spPr>
          <a:xfrm>
            <a:off x="3502152" y="2788920"/>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Enrichment</a:t>
            </a:r>
            <a:endParaRPr lang="en-US" sz="1500" dirty="0"/>
          </a:p>
        </p:txBody>
      </p:sp>
      <p:sp>
        <p:nvSpPr>
          <p:cNvPr id="18" name="Text 13"/>
          <p:cNvSpPr/>
          <p:nvPr/>
        </p:nvSpPr>
        <p:spPr>
          <a:xfrm>
            <a:off x="3593592" y="3246120"/>
            <a:ext cx="2148840" cy="2103120"/>
          </a:xfrm>
          <a:prstGeom prst="rect">
            <a:avLst/>
          </a:prstGeom>
          <a:noFill/>
          <a:ln/>
        </p:spPr>
        <p:txBody>
          <a:bodyPr wrap="square" lIns="0" tIns="0" rIns="0" bIns="0" rtlCol="0" anchor="ctr"/>
          <a:lstStyle/>
          <a:p>
            <a:pPr marL="0" indent="0" algn="ctr">
              <a:buNone/>
            </a:pPr>
            <a:r>
              <a:rPr lang="en-US" sz="1100" dirty="0">
                <a:solidFill>
                  <a:srgbClr val="8CA0BC"/>
                </a:solidFill>
                <a:latin typeface="Calibri" pitchFamily="34" charset="0"/>
                <a:ea typeface="Calibri" pitchFamily="34" charset="-122"/>
                <a:cs typeface="Calibri" pitchFamily="34" charset="-120"/>
              </a:rPr>
              <a:t>Shuffle sanitizes the command line and queries AlienVault OTX for the extracted indicator.</a:t>
            </a:r>
            <a:endParaRPr lang="en-US" sz="1100" dirty="0"/>
          </a:p>
        </p:txBody>
      </p:sp>
      <p:sp>
        <p:nvSpPr>
          <p:cNvPr id="19" name="Shape 14"/>
          <p:cNvSpPr/>
          <p:nvPr/>
        </p:nvSpPr>
        <p:spPr>
          <a:xfrm>
            <a:off x="3982212" y="5120640"/>
            <a:ext cx="1371600" cy="292608"/>
          </a:xfrm>
          <a:prstGeom prst="roundRect">
            <a:avLst>
              <a:gd name="adj" fmla="val 50000"/>
            </a:avLst>
          </a:prstGeom>
          <a:solidFill>
            <a:srgbClr val="16233B"/>
          </a:solidFill>
          <a:ln/>
        </p:spPr>
        <p:txBody>
          <a:bodyPr/>
          <a:lstStyle/>
          <a:p>
            <a:endParaRPr lang="en-US"/>
          </a:p>
        </p:txBody>
      </p:sp>
      <p:sp>
        <p:nvSpPr>
          <p:cNvPr id="20" name="Text 15"/>
          <p:cNvSpPr/>
          <p:nvPr/>
        </p:nvSpPr>
        <p:spPr>
          <a:xfrm>
            <a:off x="3982212" y="5120640"/>
            <a:ext cx="1371600" cy="292608"/>
          </a:xfrm>
          <a:prstGeom prst="rect">
            <a:avLst/>
          </a:prstGeom>
          <a:noFill/>
          <a:ln/>
        </p:spPr>
        <p:txBody>
          <a:bodyPr wrap="square" lIns="0" tIns="0" rIns="0" bIns="0" rtlCol="0" anchor="ctr"/>
          <a:lstStyle/>
          <a:p>
            <a:pPr marL="0" indent="0" algn="ctr">
              <a:buNone/>
            </a:pPr>
            <a:r>
              <a:rPr lang="en-US" sz="1100" b="1" dirty="0">
                <a:solidFill>
                  <a:srgbClr val="34D399"/>
                </a:solidFill>
                <a:latin typeface="Calibri" pitchFamily="34" charset="0"/>
                <a:ea typeface="Calibri" pitchFamily="34" charset="-122"/>
                <a:cs typeface="Calibri" pitchFamily="34" charset="-120"/>
              </a:rPr>
              <a:t>OPERATIONAL</a:t>
            </a:r>
            <a:endParaRPr lang="en-US" sz="1100" dirty="0"/>
          </a:p>
        </p:txBody>
      </p:sp>
      <p:sp>
        <p:nvSpPr>
          <p:cNvPr id="21" name="Shape 16"/>
          <p:cNvSpPr/>
          <p:nvPr/>
        </p:nvSpPr>
        <p:spPr>
          <a:xfrm>
            <a:off x="5971032" y="3611880"/>
            <a:ext cx="256032" cy="0"/>
          </a:xfrm>
          <a:prstGeom prst="line">
            <a:avLst/>
          </a:prstGeom>
          <a:noFill/>
          <a:ln w="22225">
            <a:solidFill>
              <a:srgbClr val="22D3EE"/>
            </a:solidFill>
            <a:prstDash val="solid"/>
            <a:tailEnd type="triangle"/>
          </a:ln>
        </p:spPr>
        <p:txBody>
          <a:bodyPr/>
          <a:lstStyle/>
          <a:p>
            <a:endParaRPr lang="en-US"/>
          </a:p>
        </p:txBody>
      </p:sp>
      <p:sp>
        <p:nvSpPr>
          <p:cNvPr id="22" name="Shape 17"/>
          <p:cNvSpPr/>
          <p:nvPr/>
        </p:nvSpPr>
        <p:spPr>
          <a:xfrm>
            <a:off x="6227064" y="1691640"/>
            <a:ext cx="2606040" cy="3840480"/>
          </a:xfrm>
          <a:prstGeom prst="roundRect">
            <a:avLst>
              <a:gd name="adj" fmla="val 2105"/>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3" name="Shape 18"/>
          <p:cNvSpPr/>
          <p:nvPr/>
        </p:nvSpPr>
        <p:spPr>
          <a:xfrm>
            <a:off x="7237476" y="2011680"/>
            <a:ext cx="585216" cy="585216"/>
          </a:xfrm>
          <a:prstGeom prst="ellipse">
            <a:avLst/>
          </a:prstGeom>
          <a:solidFill>
            <a:srgbClr val="16233B"/>
          </a:solidFill>
          <a:ln w="12700">
            <a:solidFill>
              <a:srgbClr val="22314D"/>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389632" y="2163836"/>
            <a:ext cx="280904" cy="280904"/>
          </a:xfrm>
          <a:prstGeom prst="rect">
            <a:avLst/>
          </a:prstGeom>
        </p:spPr>
      </p:pic>
      <p:sp>
        <p:nvSpPr>
          <p:cNvPr id="25" name="Text 19"/>
          <p:cNvSpPr/>
          <p:nvPr/>
        </p:nvSpPr>
        <p:spPr>
          <a:xfrm>
            <a:off x="6364224" y="2788920"/>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Alert Creation</a:t>
            </a:r>
            <a:endParaRPr lang="en-US" sz="1500" dirty="0"/>
          </a:p>
        </p:txBody>
      </p:sp>
      <p:sp>
        <p:nvSpPr>
          <p:cNvPr id="26" name="Text 20"/>
          <p:cNvSpPr/>
          <p:nvPr/>
        </p:nvSpPr>
        <p:spPr>
          <a:xfrm>
            <a:off x="6455664" y="3246120"/>
            <a:ext cx="2148840" cy="2103120"/>
          </a:xfrm>
          <a:prstGeom prst="rect">
            <a:avLst/>
          </a:prstGeom>
          <a:noFill/>
          <a:ln/>
        </p:spPr>
        <p:txBody>
          <a:bodyPr wrap="square" lIns="0" tIns="0" rIns="0" bIns="0" rtlCol="0" anchor="ctr"/>
          <a:lstStyle/>
          <a:p>
            <a:pPr marL="0" indent="0" algn="ctr">
              <a:buNone/>
            </a:pPr>
            <a:r>
              <a:rPr lang="en-US" sz="1100" dirty="0">
                <a:solidFill>
                  <a:srgbClr val="8CA0BC"/>
                </a:solidFill>
                <a:latin typeface="Calibri" pitchFamily="34" charset="0"/>
                <a:ea typeface="Calibri" pitchFamily="34" charset="-122"/>
                <a:cs typeface="Calibri" pitchFamily="34" charset="-120"/>
              </a:rPr>
              <a:t>A clean JSON payload is POSTed directly to TheHive's REST API — no connector failures.</a:t>
            </a:r>
            <a:endParaRPr lang="en-US" sz="1100" dirty="0"/>
          </a:p>
        </p:txBody>
      </p:sp>
      <p:sp>
        <p:nvSpPr>
          <p:cNvPr id="27" name="Shape 21"/>
          <p:cNvSpPr/>
          <p:nvPr/>
        </p:nvSpPr>
        <p:spPr>
          <a:xfrm>
            <a:off x="6844284" y="5120640"/>
            <a:ext cx="1371600" cy="292608"/>
          </a:xfrm>
          <a:prstGeom prst="roundRect">
            <a:avLst>
              <a:gd name="adj" fmla="val 50000"/>
            </a:avLst>
          </a:prstGeom>
          <a:solidFill>
            <a:srgbClr val="16233B"/>
          </a:solidFill>
          <a:ln/>
        </p:spPr>
        <p:txBody>
          <a:bodyPr/>
          <a:lstStyle/>
          <a:p>
            <a:endParaRPr lang="en-US"/>
          </a:p>
        </p:txBody>
      </p:sp>
      <p:sp>
        <p:nvSpPr>
          <p:cNvPr id="28" name="Text 22"/>
          <p:cNvSpPr/>
          <p:nvPr/>
        </p:nvSpPr>
        <p:spPr>
          <a:xfrm>
            <a:off x="6844284" y="5120640"/>
            <a:ext cx="1371600" cy="292608"/>
          </a:xfrm>
          <a:prstGeom prst="rect">
            <a:avLst/>
          </a:prstGeom>
          <a:noFill/>
          <a:ln/>
        </p:spPr>
        <p:txBody>
          <a:bodyPr wrap="square" lIns="0" tIns="0" rIns="0" bIns="0" rtlCol="0" anchor="ctr"/>
          <a:lstStyle/>
          <a:p>
            <a:pPr marL="0" indent="0" algn="ctr">
              <a:buNone/>
            </a:pPr>
            <a:r>
              <a:rPr lang="en-US" sz="1100" b="1" dirty="0">
                <a:solidFill>
                  <a:srgbClr val="34D399"/>
                </a:solidFill>
                <a:latin typeface="Calibri" pitchFamily="34" charset="0"/>
                <a:ea typeface="Calibri" pitchFamily="34" charset="-122"/>
                <a:cs typeface="Calibri" pitchFamily="34" charset="-120"/>
              </a:rPr>
              <a:t>OPERATIONAL</a:t>
            </a:r>
            <a:endParaRPr lang="en-US" sz="1100" dirty="0"/>
          </a:p>
        </p:txBody>
      </p:sp>
      <p:sp>
        <p:nvSpPr>
          <p:cNvPr id="29" name="Shape 23"/>
          <p:cNvSpPr/>
          <p:nvPr/>
        </p:nvSpPr>
        <p:spPr>
          <a:xfrm>
            <a:off x="8833104" y="3611880"/>
            <a:ext cx="256032" cy="0"/>
          </a:xfrm>
          <a:prstGeom prst="line">
            <a:avLst/>
          </a:prstGeom>
          <a:noFill/>
          <a:ln w="22225">
            <a:solidFill>
              <a:srgbClr val="22D3EE"/>
            </a:solidFill>
            <a:prstDash val="solid"/>
            <a:tailEnd type="triangle"/>
          </a:ln>
        </p:spPr>
        <p:txBody>
          <a:bodyPr/>
          <a:lstStyle/>
          <a:p>
            <a:endParaRPr lang="en-US"/>
          </a:p>
        </p:txBody>
      </p:sp>
      <p:sp>
        <p:nvSpPr>
          <p:cNvPr id="30" name="Shape 24"/>
          <p:cNvSpPr/>
          <p:nvPr/>
        </p:nvSpPr>
        <p:spPr>
          <a:xfrm>
            <a:off x="9089136" y="1691640"/>
            <a:ext cx="2606040" cy="3840480"/>
          </a:xfrm>
          <a:prstGeom prst="roundRect">
            <a:avLst>
              <a:gd name="adj" fmla="val 2105"/>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31" name="Shape 25"/>
          <p:cNvSpPr/>
          <p:nvPr/>
        </p:nvSpPr>
        <p:spPr>
          <a:xfrm>
            <a:off x="10099548" y="2011680"/>
            <a:ext cx="585216" cy="585216"/>
          </a:xfrm>
          <a:prstGeom prst="ellipse">
            <a:avLst/>
          </a:prstGeom>
          <a:solidFill>
            <a:srgbClr val="16233B"/>
          </a:solidFill>
          <a:ln w="12700">
            <a:solidFill>
              <a:srgbClr val="22314D"/>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10251704" y="2163836"/>
            <a:ext cx="280904" cy="280904"/>
          </a:xfrm>
          <a:prstGeom prst="rect">
            <a:avLst/>
          </a:prstGeom>
        </p:spPr>
      </p:pic>
      <p:sp>
        <p:nvSpPr>
          <p:cNvPr id="33" name="Text 26"/>
          <p:cNvSpPr/>
          <p:nvPr/>
        </p:nvSpPr>
        <p:spPr>
          <a:xfrm>
            <a:off x="9226296" y="2788920"/>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Case Management</a:t>
            </a:r>
            <a:endParaRPr lang="en-US" sz="1500" dirty="0"/>
          </a:p>
        </p:txBody>
      </p:sp>
      <p:sp>
        <p:nvSpPr>
          <p:cNvPr id="34" name="Text 27"/>
          <p:cNvSpPr/>
          <p:nvPr/>
        </p:nvSpPr>
        <p:spPr>
          <a:xfrm>
            <a:off x="9317736" y="3246120"/>
            <a:ext cx="2148840" cy="2103120"/>
          </a:xfrm>
          <a:prstGeom prst="rect">
            <a:avLst/>
          </a:prstGeom>
          <a:noFill/>
          <a:ln/>
        </p:spPr>
        <p:txBody>
          <a:bodyPr wrap="square" lIns="0" tIns="0" rIns="0" bIns="0" rtlCol="0" anchor="ctr"/>
          <a:lstStyle/>
          <a:p>
            <a:pPr marL="0" indent="0" algn="ctr">
              <a:buNone/>
            </a:pPr>
            <a:r>
              <a:rPr lang="en-US" sz="1100" dirty="0">
                <a:solidFill>
                  <a:srgbClr val="8CA0BC"/>
                </a:solidFill>
                <a:latin typeface="Calibri" pitchFamily="34" charset="0"/>
                <a:ea typeface="Calibri" pitchFamily="34" charset="-122"/>
                <a:cs typeface="Calibri" pitchFamily="34" charset="-120"/>
              </a:rPr>
              <a:t>TheHive generates an Alert with MITRE tags and indicators, ready for analyst triage.</a:t>
            </a:r>
            <a:endParaRPr lang="en-US" sz="1100" dirty="0"/>
          </a:p>
        </p:txBody>
      </p:sp>
      <p:sp>
        <p:nvSpPr>
          <p:cNvPr id="35" name="Shape 28"/>
          <p:cNvSpPr/>
          <p:nvPr/>
        </p:nvSpPr>
        <p:spPr>
          <a:xfrm>
            <a:off x="9706356" y="5120640"/>
            <a:ext cx="1371600" cy="292608"/>
          </a:xfrm>
          <a:prstGeom prst="roundRect">
            <a:avLst>
              <a:gd name="adj" fmla="val 50000"/>
            </a:avLst>
          </a:prstGeom>
          <a:solidFill>
            <a:srgbClr val="16233B"/>
          </a:solidFill>
          <a:ln/>
        </p:spPr>
        <p:txBody>
          <a:bodyPr/>
          <a:lstStyle/>
          <a:p>
            <a:endParaRPr lang="en-US"/>
          </a:p>
        </p:txBody>
      </p:sp>
      <p:sp>
        <p:nvSpPr>
          <p:cNvPr id="36" name="Text 29"/>
          <p:cNvSpPr/>
          <p:nvPr/>
        </p:nvSpPr>
        <p:spPr>
          <a:xfrm>
            <a:off x="9706356" y="5120640"/>
            <a:ext cx="1371600" cy="292608"/>
          </a:xfrm>
          <a:prstGeom prst="rect">
            <a:avLst/>
          </a:prstGeom>
          <a:noFill/>
          <a:ln/>
        </p:spPr>
        <p:txBody>
          <a:bodyPr wrap="square" lIns="0" tIns="0" rIns="0" bIns="0" rtlCol="0" anchor="ctr"/>
          <a:lstStyle/>
          <a:p>
            <a:pPr marL="0" indent="0" algn="ctr">
              <a:buNone/>
            </a:pPr>
            <a:r>
              <a:rPr lang="en-US" sz="1100" b="1" dirty="0">
                <a:solidFill>
                  <a:srgbClr val="34D399"/>
                </a:solidFill>
                <a:latin typeface="Calibri" pitchFamily="34" charset="0"/>
                <a:ea typeface="Calibri" pitchFamily="34" charset="-122"/>
                <a:cs typeface="Calibri" pitchFamily="34" charset="-120"/>
              </a:rPr>
              <a:t>OPERATIONAL</a:t>
            </a:r>
            <a:endParaRPr lang="en-US" sz="1100" dirty="0"/>
          </a:p>
        </p:txBody>
      </p:sp>
      <p:sp>
        <p:nvSpPr>
          <p:cNvPr id="37" name="Text 30"/>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38" name="Text 31"/>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HONEST ASSESSMENT</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Technical Debt &amp; Limitations</a:t>
            </a:r>
            <a:endParaRPr lang="en-US" sz="3000" dirty="0"/>
          </a:p>
        </p:txBody>
      </p:sp>
      <p:sp>
        <p:nvSpPr>
          <p:cNvPr id="6" name="Shape 3"/>
          <p:cNvSpPr/>
          <p:nvPr/>
        </p:nvSpPr>
        <p:spPr>
          <a:xfrm>
            <a:off x="502920" y="1645920"/>
            <a:ext cx="11155680" cy="960120"/>
          </a:xfrm>
          <a:prstGeom prst="roundRect">
            <a:avLst>
              <a:gd name="adj" fmla="val 571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Shape 4"/>
          <p:cNvSpPr/>
          <p:nvPr/>
        </p:nvSpPr>
        <p:spPr>
          <a:xfrm>
            <a:off x="731520" y="1952244"/>
            <a:ext cx="1051560" cy="347472"/>
          </a:xfrm>
          <a:prstGeom prst="roundRect">
            <a:avLst>
              <a:gd name="adj" fmla="val 50000"/>
            </a:avLst>
          </a:prstGeom>
          <a:solidFill>
            <a:srgbClr val="0A1220"/>
          </a:solidFill>
          <a:ln/>
        </p:spPr>
        <p:txBody>
          <a:bodyPr/>
          <a:lstStyle/>
          <a:p>
            <a:endParaRPr lang="en-US"/>
          </a:p>
        </p:txBody>
      </p:sp>
      <p:sp>
        <p:nvSpPr>
          <p:cNvPr id="8" name="Text 5"/>
          <p:cNvSpPr/>
          <p:nvPr/>
        </p:nvSpPr>
        <p:spPr>
          <a:xfrm>
            <a:off x="731520" y="1952244"/>
            <a:ext cx="1051560" cy="347472"/>
          </a:xfrm>
          <a:prstGeom prst="rect">
            <a:avLst/>
          </a:prstGeom>
          <a:noFill/>
          <a:ln/>
        </p:spPr>
        <p:txBody>
          <a:bodyPr wrap="square" lIns="0" tIns="0" rIns="0" bIns="0" rtlCol="0" anchor="ctr"/>
          <a:lstStyle/>
          <a:p>
            <a:pPr marL="0" indent="0" algn="ctr">
              <a:buNone/>
            </a:pPr>
            <a:r>
              <a:rPr lang="en-US" sz="1100" b="1" dirty="0">
                <a:solidFill>
                  <a:srgbClr val="F43F5E"/>
                </a:solidFill>
                <a:latin typeface="Calibri" pitchFamily="34" charset="0"/>
                <a:ea typeface="Calibri" pitchFamily="34" charset="-122"/>
                <a:cs typeface="Calibri" pitchFamily="34" charset="-120"/>
              </a:rPr>
              <a:t>HIGH</a:t>
            </a:r>
            <a:endParaRPr lang="en-US" sz="1100" dirty="0"/>
          </a:p>
        </p:txBody>
      </p:sp>
      <p:sp>
        <p:nvSpPr>
          <p:cNvPr id="9" name="Text 6"/>
          <p:cNvSpPr/>
          <p:nvPr/>
        </p:nvSpPr>
        <p:spPr>
          <a:xfrm>
            <a:off x="1965960" y="1755648"/>
            <a:ext cx="4114800" cy="7315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Storage Exhaustion Risk</a:t>
            </a:r>
            <a:endParaRPr lang="en-US" sz="1350" dirty="0"/>
          </a:p>
        </p:txBody>
      </p:sp>
      <p:sp>
        <p:nvSpPr>
          <p:cNvPr id="10" name="Text 7"/>
          <p:cNvSpPr/>
          <p:nvPr/>
        </p:nvSpPr>
        <p:spPr>
          <a:xfrm>
            <a:off x="6172200" y="1755648"/>
            <a:ext cx="5303520" cy="731520"/>
          </a:xfrm>
          <a:prstGeom prst="rect">
            <a:avLst/>
          </a:prstGeom>
          <a:noFill/>
          <a:ln/>
        </p:spPr>
        <p:txBody>
          <a:bodyPr wrap="square" lIns="0" tIns="0" rIns="0" bIns="0" rtlCol="0" anchor="ctr"/>
          <a:lstStyle/>
          <a:p>
            <a:pPr marL="0" indent="0">
              <a:buNone/>
            </a:pPr>
            <a:r>
              <a:rPr lang="en-US" sz="1100" dirty="0">
                <a:solidFill>
                  <a:srgbClr val="8CA0BC"/>
                </a:solidFill>
                <a:latin typeface="Calibri" pitchFamily="34" charset="0"/>
                <a:ea typeface="Calibri" pitchFamily="34" charset="-122"/>
                <a:cs typeface="Calibri" pitchFamily="34" charset="-120"/>
              </a:rPr>
              <a:t>50 GB remains tight. Continuous log ingestion will eventually require expanding the disk to 60-80 GB and resizing the partition.</a:t>
            </a:r>
            <a:endParaRPr lang="en-US" sz="1100" dirty="0"/>
          </a:p>
        </p:txBody>
      </p:sp>
      <p:sp>
        <p:nvSpPr>
          <p:cNvPr id="11" name="Shape 8"/>
          <p:cNvSpPr/>
          <p:nvPr/>
        </p:nvSpPr>
        <p:spPr>
          <a:xfrm>
            <a:off x="502920" y="2743200"/>
            <a:ext cx="11155680" cy="960120"/>
          </a:xfrm>
          <a:prstGeom prst="roundRect">
            <a:avLst>
              <a:gd name="adj" fmla="val 571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2" name="Shape 9"/>
          <p:cNvSpPr/>
          <p:nvPr/>
        </p:nvSpPr>
        <p:spPr>
          <a:xfrm>
            <a:off x="731520" y="3049524"/>
            <a:ext cx="1051560" cy="347472"/>
          </a:xfrm>
          <a:prstGeom prst="roundRect">
            <a:avLst>
              <a:gd name="adj" fmla="val 50000"/>
            </a:avLst>
          </a:prstGeom>
          <a:solidFill>
            <a:srgbClr val="0A1220"/>
          </a:solidFill>
          <a:ln/>
        </p:spPr>
        <p:txBody>
          <a:bodyPr/>
          <a:lstStyle/>
          <a:p>
            <a:endParaRPr lang="en-US"/>
          </a:p>
        </p:txBody>
      </p:sp>
      <p:sp>
        <p:nvSpPr>
          <p:cNvPr id="13" name="Text 10"/>
          <p:cNvSpPr/>
          <p:nvPr/>
        </p:nvSpPr>
        <p:spPr>
          <a:xfrm>
            <a:off x="731520" y="3049524"/>
            <a:ext cx="1051560" cy="347472"/>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DEBT</a:t>
            </a:r>
            <a:endParaRPr lang="en-US" sz="1100" dirty="0"/>
          </a:p>
        </p:txBody>
      </p:sp>
      <p:sp>
        <p:nvSpPr>
          <p:cNvPr id="14" name="Text 11"/>
          <p:cNvSpPr/>
          <p:nvPr/>
        </p:nvSpPr>
        <p:spPr>
          <a:xfrm>
            <a:off x="1965960" y="2852928"/>
            <a:ext cx="4114800" cy="7315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Fragile TheHive Integration</a:t>
            </a:r>
            <a:endParaRPr lang="en-US" sz="1350" dirty="0"/>
          </a:p>
        </p:txBody>
      </p:sp>
      <p:sp>
        <p:nvSpPr>
          <p:cNvPr id="15" name="Text 12"/>
          <p:cNvSpPr/>
          <p:nvPr/>
        </p:nvSpPr>
        <p:spPr>
          <a:xfrm>
            <a:off x="6172200" y="2852928"/>
            <a:ext cx="5303520" cy="731520"/>
          </a:xfrm>
          <a:prstGeom prst="rect">
            <a:avLst/>
          </a:prstGeom>
          <a:noFill/>
          <a:ln/>
        </p:spPr>
        <p:txBody>
          <a:bodyPr wrap="square" lIns="0" tIns="0" rIns="0" bIns="0" rtlCol="0" anchor="ctr"/>
          <a:lstStyle/>
          <a:p>
            <a:pPr marL="0" indent="0">
              <a:buNone/>
            </a:pPr>
            <a:r>
              <a:rPr lang="en-US" sz="1100" dirty="0">
                <a:solidFill>
                  <a:srgbClr val="8CA0BC"/>
                </a:solidFill>
                <a:latin typeface="Calibri" pitchFamily="34" charset="0"/>
                <a:ea typeface="Calibri" pitchFamily="34" charset="-122"/>
                <a:cs typeface="Calibri" pitchFamily="34" charset="-120"/>
              </a:rPr>
              <a:t>The hardcoded HTTP POST bypasses TheHive's connector UI — any future API schema change breaks ticket creation silently.</a:t>
            </a:r>
            <a:endParaRPr lang="en-US" sz="1100" dirty="0"/>
          </a:p>
        </p:txBody>
      </p:sp>
      <p:sp>
        <p:nvSpPr>
          <p:cNvPr id="16" name="Shape 13"/>
          <p:cNvSpPr/>
          <p:nvPr/>
        </p:nvSpPr>
        <p:spPr>
          <a:xfrm>
            <a:off x="502920" y="3840480"/>
            <a:ext cx="11155680" cy="960120"/>
          </a:xfrm>
          <a:prstGeom prst="roundRect">
            <a:avLst>
              <a:gd name="adj" fmla="val 571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7" name="Shape 14"/>
          <p:cNvSpPr/>
          <p:nvPr/>
        </p:nvSpPr>
        <p:spPr>
          <a:xfrm>
            <a:off x="731520" y="4146804"/>
            <a:ext cx="1051560" cy="347472"/>
          </a:xfrm>
          <a:prstGeom prst="roundRect">
            <a:avLst>
              <a:gd name="adj" fmla="val 50000"/>
            </a:avLst>
          </a:prstGeom>
          <a:solidFill>
            <a:srgbClr val="0A1220"/>
          </a:solidFill>
          <a:ln/>
        </p:spPr>
        <p:txBody>
          <a:bodyPr/>
          <a:lstStyle/>
          <a:p>
            <a:endParaRPr lang="en-US"/>
          </a:p>
        </p:txBody>
      </p:sp>
      <p:sp>
        <p:nvSpPr>
          <p:cNvPr id="18" name="Text 15"/>
          <p:cNvSpPr/>
          <p:nvPr/>
        </p:nvSpPr>
        <p:spPr>
          <a:xfrm>
            <a:off x="731520" y="4146804"/>
            <a:ext cx="1051560" cy="347472"/>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DEBT</a:t>
            </a:r>
            <a:endParaRPr lang="en-US" sz="1100" dirty="0"/>
          </a:p>
        </p:txBody>
      </p:sp>
      <p:sp>
        <p:nvSpPr>
          <p:cNvPr id="19" name="Text 16"/>
          <p:cNvSpPr/>
          <p:nvPr/>
        </p:nvSpPr>
        <p:spPr>
          <a:xfrm>
            <a:off x="1965960" y="3950208"/>
            <a:ext cx="4114800" cy="7315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Security Posture Limitation</a:t>
            </a:r>
            <a:endParaRPr lang="en-US" sz="1350" dirty="0"/>
          </a:p>
        </p:txBody>
      </p:sp>
      <p:sp>
        <p:nvSpPr>
          <p:cNvPr id="20" name="Text 17"/>
          <p:cNvSpPr/>
          <p:nvPr/>
        </p:nvSpPr>
        <p:spPr>
          <a:xfrm>
            <a:off x="6172200" y="3950208"/>
            <a:ext cx="5303520" cy="731520"/>
          </a:xfrm>
          <a:prstGeom prst="rect">
            <a:avLst/>
          </a:prstGeom>
          <a:noFill/>
          <a:ln/>
        </p:spPr>
        <p:txBody>
          <a:bodyPr wrap="square" lIns="0" tIns="0" rIns="0" bIns="0" rtlCol="0" anchor="ctr"/>
          <a:lstStyle/>
          <a:p>
            <a:pPr marL="0" indent="0">
              <a:buNone/>
            </a:pPr>
            <a:r>
              <a:rPr lang="en-US" sz="1100" dirty="0">
                <a:solidFill>
                  <a:srgbClr val="8CA0BC"/>
                </a:solidFill>
                <a:latin typeface="Calibri" pitchFamily="34" charset="0"/>
                <a:ea typeface="Calibri" pitchFamily="34" charset="-122"/>
                <a:cs typeface="Calibri" pitchFamily="34" charset="-120"/>
              </a:rPr>
              <a:t>plugins.security.disabled=true on OpenSearch enables Shuffle connectivity but is unacceptable outside an isolated lab.</a:t>
            </a:r>
            <a:endParaRPr lang="en-US" sz="1100" dirty="0"/>
          </a:p>
        </p:txBody>
      </p:sp>
      <p:sp>
        <p:nvSpPr>
          <p:cNvPr id="21" name="Shape 18"/>
          <p:cNvSpPr/>
          <p:nvPr/>
        </p:nvSpPr>
        <p:spPr>
          <a:xfrm>
            <a:off x="502920" y="4937760"/>
            <a:ext cx="11155680" cy="960120"/>
          </a:xfrm>
          <a:prstGeom prst="roundRect">
            <a:avLst>
              <a:gd name="adj" fmla="val 5714"/>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2" name="Shape 19"/>
          <p:cNvSpPr/>
          <p:nvPr/>
        </p:nvSpPr>
        <p:spPr>
          <a:xfrm>
            <a:off x="731520" y="5244084"/>
            <a:ext cx="1051560" cy="347472"/>
          </a:xfrm>
          <a:prstGeom prst="roundRect">
            <a:avLst>
              <a:gd name="adj" fmla="val 50000"/>
            </a:avLst>
          </a:prstGeom>
          <a:solidFill>
            <a:srgbClr val="0A1220"/>
          </a:solidFill>
          <a:ln/>
        </p:spPr>
        <p:txBody>
          <a:bodyPr/>
          <a:lstStyle/>
          <a:p>
            <a:endParaRPr lang="en-US"/>
          </a:p>
        </p:txBody>
      </p:sp>
      <p:sp>
        <p:nvSpPr>
          <p:cNvPr id="23" name="Text 20"/>
          <p:cNvSpPr/>
          <p:nvPr/>
        </p:nvSpPr>
        <p:spPr>
          <a:xfrm>
            <a:off x="731520" y="5244084"/>
            <a:ext cx="1051560" cy="347472"/>
          </a:xfrm>
          <a:prstGeom prst="rect">
            <a:avLst/>
          </a:prstGeom>
          <a:noFill/>
          <a:ln/>
        </p:spPr>
        <p:txBody>
          <a:bodyPr wrap="square" lIns="0" tIns="0" rIns="0" bIns="0" rtlCol="0" anchor="ctr"/>
          <a:lstStyle/>
          <a:p>
            <a:pPr marL="0" indent="0" algn="ctr">
              <a:buNone/>
            </a:pPr>
            <a:r>
              <a:rPr lang="en-US" sz="1100" b="1" dirty="0">
                <a:solidFill>
                  <a:srgbClr val="5EEAD4"/>
                </a:solidFill>
                <a:latin typeface="Calibri" pitchFamily="34" charset="0"/>
                <a:ea typeface="Calibri" pitchFamily="34" charset="-122"/>
                <a:cs typeface="Calibri" pitchFamily="34" charset="-120"/>
              </a:rPr>
              <a:t>MEDIUM</a:t>
            </a:r>
            <a:endParaRPr lang="en-US" sz="1100" dirty="0"/>
          </a:p>
        </p:txBody>
      </p:sp>
      <p:sp>
        <p:nvSpPr>
          <p:cNvPr id="24" name="Text 21"/>
          <p:cNvSpPr/>
          <p:nvPr/>
        </p:nvSpPr>
        <p:spPr>
          <a:xfrm>
            <a:off x="1965960" y="5047488"/>
            <a:ext cx="4114800" cy="7315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Memory Swap Wear</a:t>
            </a:r>
            <a:endParaRPr lang="en-US" sz="1350" dirty="0"/>
          </a:p>
        </p:txBody>
      </p:sp>
      <p:sp>
        <p:nvSpPr>
          <p:cNvPr id="25" name="Text 22"/>
          <p:cNvSpPr/>
          <p:nvPr/>
        </p:nvSpPr>
        <p:spPr>
          <a:xfrm>
            <a:off x="6172200" y="5047488"/>
            <a:ext cx="5303520" cy="731520"/>
          </a:xfrm>
          <a:prstGeom prst="rect">
            <a:avLst/>
          </a:prstGeom>
          <a:noFill/>
          <a:ln/>
        </p:spPr>
        <p:txBody>
          <a:bodyPr wrap="square" lIns="0" tIns="0" rIns="0" bIns="0" rtlCol="0" anchor="ctr"/>
          <a:lstStyle/>
          <a:p>
            <a:pPr marL="0" indent="0">
              <a:buNone/>
            </a:pPr>
            <a:r>
              <a:rPr lang="en-US" sz="1100" dirty="0">
                <a:solidFill>
                  <a:srgbClr val="8CA0BC"/>
                </a:solidFill>
                <a:latin typeface="Calibri" pitchFamily="34" charset="0"/>
                <a:ea typeface="Calibri" pitchFamily="34" charset="-122"/>
                <a:cs typeface="Calibri" pitchFamily="34" charset="-120"/>
              </a:rPr>
              <a:t>swappiness=1 mitigates SSD wear, but sudden traffic spikes still hit the 4-6 GB Linux swap file, causing I/O pressure.</a:t>
            </a:r>
            <a:endParaRPr lang="en-US" sz="1100" dirty="0"/>
          </a:p>
        </p:txBody>
      </p:sp>
      <p:sp>
        <p:nvSpPr>
          <p:cNvPr id="26" name="Text 23"/>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27" name="Text 24"/>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ROADMAP</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Work</a:t>
            </a:r>
            <a:endParaRPr lang="en-US" sz="3000" dirty="0"/>
          </a:p>
        </p:txBody>
      </p:sp>
      <p:sp>
        <p:nvSpPr>
          <p:cNvPr id="6" name="Shape 3"/>
          <p:cNvSpPr/>
          <p:nvPr/>
        </p:nvSpPr>
        <p:spPr>
          <a:xfrm>
            <a:off x="1051560" y="2148840"/>
            <a:ext cx="10058400" cy="0"/>
          </a:xfrm>
          <a:prstGeom prst="line">
            <a:avLst/>
          </a:prstGeom>
          <a:noFill/>
          <a:ln w="25400">
            <a:solidFill>
              <a:srgbClr val="22314D"/>
            </a:solidFill>
            <a:prstDash val="solid"/>
          </a:ln>
        </p:spPr>
        <p:txBody>
          <a:bodyPr/>
          <a:lstStyle/>
          <a:p>
            <a:endParaRPr lang="en-US"/>
          </a:p>
        </p:txBody>
      </p:sp>
      <p:sp>
        <p:nvSpPr>
          <p:cNvPr id="7" name="Shape 4"/>
          <p:cNvSpPr/>
          <p:nvPr/>
        </p:nvSpPr>
        <p:spPr>
          <a:xfrm>
            <a:off x="1860804" y="1975104"/>
            <a:ext cx="347472" cy="347472"/>
          </a:xfrm>
          <a:prstGeom prst="ellipse">
            <a:avLst/>
          </a:prstGeom>
          <a:solidFill>
            <a:srgbClr val="16233B"/>
          </a:solidFill>
          <a:ln w="25400">
            <a:solidFill>
              <a:srgbClr val="22D3EE"/>
            </a:solidFill>
            <a:prstDash val="solid"/>
          </a:ln>
        </p:spPr>
        <p:txBody>
          <a:bodyPr/>
          <a:lstStyle/>
          <a:p>
            <a:endParaRPr lang="en-US"/>
          </a:p>
        </p:txBody>
      </p:sp>
      <p:sp>
        <p:nvSpPr>
          <p:cNvPr id="8" name="Text 5"/>
          <p:cNvSpPr/>
          <p:nvPr/>
        </p:nvSpPr>
        <p:spPr>
          <a:xfrm>
            <a:off x="1860804" y="1975104"/>
            <a:ext cx="347472" cy="347472"/>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1</a:t>
            </a:r>
            <a:endParaRPr lang="en-US" sz="1200" dirty="0"/>
          </a:p>
        </p:txBody>
      </p:sp>
      <p:sp>
        <p:nvSpPr>
          <p:cNvPr id="9" name="Shape 6"/>
          <p:cNvSpPr/>
          <p:nvPr/>
        </p:nvSpPr>
        <p:spPr>
          <a:xfrm>
            <a:off x="2034540" y="2322576"/>
            <a:ext cx="0" cy="192024"/>
          </a:xfrm>
          <a:prstGeom prst="line">
            <a:avLst/>
          </a:prstGeom>
          <a:noFill/>
          <a:ln w="12700">
            <a:solidFill>
              <a:srgbClr val="22314D"/>
            </a:solidFill>
            <a:prstDash val="dash"/>
          </a:ln>
        </p:spPr>
        <p:txBody>
          <a:bodyPr/>
          <a:lstStyle/>
          <a:p>
            <a:endParaRPr lang="en-US"/>
          </a:p>
        </p:txBody>
      </p:sp>
      <p:sp>
        <p:nvSpPr>
          <p:cNvPr id="10" name="Shape 7"/>
          <p:cNvSpPr/>
          <p:nvPr/>
        </p:nvSpPr>
        <p:spPr>
          <a:xfrm>
            <a:off x="1051560" y="2514600"/>
            <a:ext cx="1965960" cy="3246120"/>
          </a:xfrm>
          <a:prstGeom prst="roundRect">
            <a:avLst>
              <a:gd name="adj" fmla="val 279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1" name="Text 8"/>
          <p:cNvSpPr/>
          <p:nvPr/>
        </p:nvSpPr>
        <p:spPr>
          <a:xfrm>
            <a:off x="1216152" y="2697480"/>
            <a:ext cx="1636776" cy="228600"/>
          </a:xfrm>
          <a:prstGeom prst="rect">
            <a:avLst/>
          </a:prstGeom>
          <a:noFill/>
          <a:ln/>
        </p:spPr>
        <p:txBody>
          <a:bodyPr wrap="square" lIns="0" tIns="0" rIns="0" bIns="0" rtlCol="0" anchor="ctr"/>
          <a:lstStyle/>
          <a:p>
            <a:pPr marL="0" indent="0">
              <a:buNone/>
            </a:pPr>
            <a:r>
              <a:rPr lang="en-US" sz="900" b="1" kern="0" spc="100" dirty="0">
                <a:solidFill>
                  <a:srgbClr val="22D3EE"/>
                </a:solidFill>
                <a:latin typeface="Calibri" pitchFamily="34" charset="0"/>
                <a:ea typeface="Calibri" pitchFamily="34" charset="-122"/>
                <a:cs typeface="Calibri" pitchFamily="34" charset="-120"/>
              </a:rPr>
              <a:t>PHASE 1</a:t>
            </a:r>
            <a:endParaRPr lang="en-US" sz="900" dirty="0"/>
          </a:p>
        </p:txBody>
      </p:sp>
      <p:sp>
        <p:nvSpPr>
          <p:cNvPr id="12" name="Text 9"/>
          <p:cNvSpPr/>
          <p:nvPr/>
        </p:nvSpPr>
        <p:spPr>
          <a:xfrm>
            <a:off x="1216152" y="2953512"/>
            <a:ext cx="1636776" cy="59436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Scale Adversary</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Emulation</a:t>
            </a:r>
            <a:endParaRPr lang="en-US" sz="1300" dirty="0"/>
          </a:p>
        </p:txBody>
      </p:sp>
      <p:sp>
        <p:nvSpPr>
          <p:cNvPr id="13" name="Text 10"/>
          <p:cNvSpPr/>
          <p:nvPr/>
        </p:nvSpPr>
        <p:spPr>
          <a:xfrm>
            <a:off x="1216152" y="3611880"/>
            <a:ext cx="1636776" cy="1965960"/>
          </a:xfrm>
          <a:prstGeom prst="rect">
            <a:avLst/>
          </a:prstGeom>
          <a:noFill/>
          <a:ln/>
        </p:spPr>
        <p:txBody>
          <a:bodyPr wrap="square" lIns="0" tIns="0" rIns="0" bIns="0" rtlCol="0" anchor="t"/>
          <a:lstStyle/>
          <a:p>
            <a:pPr marL="0" indent="0">
              <a:buNone/>
            </a:pPr>
            <a:r>
              <a:rPr lang="en-US" sz="950" dirty="0">
                <a:solidFill>
                  <a:srgbClr val="8CA0BC"/>
                </a:solidFill>
                <a:latin typeface="Calibri" pitchFamily="34" charset="0"/>
                <a:ea typeface="Calibri" pitchFamily="34" charset="-122"/>
                <a:cs typeface="Calibri" pitchFamily="34" charset="-120"/>
              </a:rPr>
              <a:t>Execute remaining ART techniques: Credential Dumping (T1003.001) &amp; Event Log Clearing (T1070.004).</a:t>
            </a:r>
            <a:endParaRPr lang="en-US" sz="950" dirty="0"/>
          </a:p>
        </p:txBody>
      </p:sp>
      <p:sp>
        <p:nvSpPr>
          <p:cNvPr id="14" name="Shape 11"/>
          <p:cNvSpPr/>
          <p:nvPr/>
        </p:nvSpPr>
        <p:spPr>
          <a:xfrm>
            <a:off x="3883914" y="1975104"/>
            <a:ext cx="347472" cy="347472"/>
          </a:xfrm>
          <a:prstGeom prst="ellipse">
            <a:avLst/>
          </a:prstGeom>
          <a:solidFill>
            <a:srgbClr val="16233B"/>
          </a:solidFill>
          <a:ln w="25400">
            <a:solidFill>
              <a:srgbClr val="22D3EE"/>
            </a:solidFill>
            <a:prstDash val="solid"/>
          </a:ln>
        </p:spPr>
        <p:txBody>
          <a:bodyPr/>
          <a:lstStyle/>
          <a:p>
            <a:endParaRPr lang="en-US"/>
          </a:p>
        </p:txBody>
      </p:sp>
      <p:sp>
        <p:nvSpPr>
          <p:cNvPr id="15" name="Text 12"/>
          <p:cNvSpPr/>
          <p:nvPr/>
        </p:nvSpPr>
        <p:spPr>
          <a:xfrm>
            <a:off x="3883914" y="1975104"/>
            <a:ext cx="347472" cy="347472"/>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2</a:t>
            </a:r>
            <a:endParaRPr lang="en-US" sz="1200" dirty="0"/>
          </a:p>
        </p:txBody>
      </p:sp>
      <p:sp>
        <p:nvSpPr>
          <p:cNvPr id="16" name="Shape 13"/>
          <p:cNvSpPr/>
          <p:nvPr/>
        </p:nvSpPr>
        <p:spPr>
          <a:xfrm>
            <a:off x="4057650" y="2322576"/>
            <a:ext cx="0" cy="192024"/>
          </a:xfrm>
          <a:prstGeom prst="line">
            <a:avLst/>
          </a:prstGeom>
          <a:noFill/>
          <a:ln w="12700">
            <a:solidFill>
              <a:srgbClr val="22314D"/>
            </a:solidFill>
            <a:prstDash val="dash"/>
          </a:ln>
        </p:spPr>
        <p:txBody>
          <a:bodyPr/>
          <a:lstStyle/>
          <a:p>
            <a:endParaRPr lang="en-US"/>
          </a:p>
        </p:txBody>
      </p:sp>
      <p:sp>
        <p:nvSpPr>
          <p:cNvPr id="17" name="Shape 14"/>
          <p:cNvSpPr/>
          <p:nvPr/>
        </p:nvSpPr>
        <p:spPr>
          <a:xfrm>
            <a:off x="3074670" y="2514600"/>
            <a:ext cx="1965960" cy="3246120"/>
          </a:xfrm>
          <a:prstGeom prst="roundRect">
            <a:avLst>
              <a:gd name="adj" fmla="val 279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18" name="Text 15"/>
          <p:cNvSpPr/>
          <p:nvPr/>
        </p:nvSpPr>
        <p:spPr>
          <a:xfrm>
            <a:off x="3239262" y="2697480"/>
            <a:ext cx="1636776" cy="228600"/>
          </a:xfrm>
          <a:prstGeom prst="rect">
            <a:avLst/>
          </a:prstGeom>
          <a:noFill/>
          <a:ln/>
        </p:spPr>
        <p:txBody>
          <a:bodyPr wrap="square" lIns="0" tIns="0" rIns="0" bIns="0" rtlCol="0" anchor="ctr"/>
          <a:lstStyle/>
          <a:p>
            <a:pPr marL="0" indent="0">
              <a:buNone/>
            </a:pPr>
            <a:r>
              <a:rPr lang="en-US" sz="900" b="1" kern="0" spc="100" dirty="0">
                <a:solidFill>
                  <a:srgbClr val="22D3EE"/>
                </a:solidFill>
                <a:latin typeface="Calibri" pitchFamily="34" charset="0"/>
                <a:ea typeface="Calibri" pitchFamily="34" charset="-122"/>
                <a:cs typeface="Calibri" pitchFamily="34" charset="-120"/>
              </a:rPr>
              <a:t>PHASE 2</a:t>
            </a:r>
            <a:endParaRPr lang="en-US" sz="900" dirty="0"/>
          </a:p>
        </p:txBody>
      </p:sp>
      <p:sp>
        <p:nvSpPr>
          <p:cNvPr id="19" name="Text 16"/>
          <p:cNvSpPr/>
          <p:nvPr/>
        </p:nvSpPr>
        <p:spPr>
          <a:xfrm>
            <a:off x="3239262" y="2953512"/>
            <a:ext cx="1636776" cy="59436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Scale Detection</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Rules</a:t>
            </a:r>
            <a:endParaRPr lang="en-US" sz="1300" dirty="0"/>
          </a:p>
        </p:txBody>
      </p:sp>
      <p:sp>
        <p:nvSpPr>
          <p:cNvPr id="20" name="Text 17"/>
          <p:cNvSpPr/>
          <p:nvPr/>
        </p:nvSpPr>
        <p:spPr>
          <a:xfrm>
            <a:off x="3239262" y="3611880"/>
            <a:ext cx="1636776" cy="1965960"/>
          </a:xfrm>
          <a:prstGeom prst="rect">
            <a:avLst/>
          </a:prstGeom>
          <a:noFill/>
          <a:ln/>
        </p:spPr>
        <p:txBody>
          <a:bodyPr wrap="square" lIns="0" tIns="0" rIns="0" bIns="0" rtlCol="0" anchor="t"/>
          <a:lstStyle/>
          <a:p>
            <a:pPr marL="0" indent="0">
              <a:buNone/>
            </a:pPr>
            <a:r>
              <a:rPr lang="en-US" sz="950" dirty="0">
                <a:solidFill>
                  <a:srgbClr val="8CA0BC"/>
                </a:solidFill>
                <a:latin typeface="Calibri" pitchFamily="34" charset="0"/>
                <a:ea typeface="Calibri" pitchFamily="34" charset="-122"/>
                <a:cs typeface="Calibri" pitchFamily="34" charset="-120"/>
              </a:rPr>
              <a:t>Add Wazuh rules for Sysmon Event ID 10 (LSASS targeting) and Event ID 1 (wevtutil.exe cl).</a:t>
            </a:r>
            <a:endParaRPr lang="en-US" sz="950" dirty="0"/>
          </a:p>
        </p:txBody>
      </p:sp>
      <p:sp>
        <p:nvSpPr>
          <p:cNvPr id="21" name="Shape 18"/>
          <p:cNvSpPr/>
          <p:nvPr/>
        </p:nvSpPr>
        <p:spPr>
          <a:xfrm>
            <a:off x="5907024" y="1975104"/>
            <a:ext cx="347472" cy="347472"/>
          </a:xfrm>
          <a:prstGeom prst="ellipse">
            <a:avLst/>
          </a:prstGeom>
          <a:solidFill>
            <a:srgbClr val="16233B"/>
          </a:solidFill>
          <a:ln w="25400">
            <a:solidFill>
              <a:srgbClr val="22D3EE"/>
            </a:solidFill>
            <a:prstDash val="solid"/>
          </a:ln>
        </p:spPr>
        <p:txBody>
          <a:bodyPr/>
          <a:lstStyle/>
          <a:p>
            <a:endParaRPr lang="en-US"/>
          </a:p>
        </p:txBody>
      </p:sp>
      <p:sp>
        <p:nvSpPr>
          <p:cNvPr id="22" name="Text 19"/>
          <p:cNvSpPr/>
          <p:nvPr/>
        </p:nvSpPr>
        <p:spPr>
          <a:xfrm>
            <a:off x="5907024" y="1975104"/>
            <a:ext cx="347472" cy="347472"/>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3</a:t>
            </a:r>
            <a:endParaRPr lang="en-US" sz="1200" dirty="0"/>
          </a:p>
        </p:txBody>
      </p:sp>
      <p:sp>
        <p:nvSpPr>
          <p:cNvPr id="23" name="Shape 20"/>
          <p:cNvSpPr/>
          <p:nvPr/>
        </p:nvSpPr>
        <p:spPr>
          <a:xfrm>
            <a:off x="6080760" y="2322576"/>
            <a:ext cx="0" cy="192024"/>
          </a:xfrm>
          <a:prstGeom prst="line">
            <a:avLst/>
          </a:prstGeom>
          <a:noFill/>
          <a:ln w="12700">
            <a:solidFill>
              <a:srgbClr val="22314D"/>
            </a:solidFill>
            <a:prstDash val="dash"/>
          </a:ln>
        </p:spPr>
        <p:txBody>
          <a:bodyPr/>
          <a:lstStyle/>
          <a:p>
            <a:endParaRPr lang="en-US"/>
          </a:p>
        </p:txBody>
      </p:sp>
      <p:sp>
        <p:nvSpPr>
          <p:cNvPr id="24" name="Shape 21"/>
          <p:cNvSpPr/>
          <p:nvPr/>
        </p:nvSpPr>
        <p:spPr>
          <a:xfrm>
            <a:off x="5097780" y="2514600"/>
            <a:ext cx="1965960" cy="3246120"/>
          </a:xfrm>
          <a:prstGeom prst="roundRect">
            <a:avLst>
              <a:gd name="adj" fmla="val 279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25" name="Text 22"/>
          <p:cNvSpPr/>
          <p:nvPr/>
        </p:nvSpPr>
        <p:spPr>
          <a:xfrm>
            <a:off x="5262372" y="2697480"/>
            <a:ext cx="1636776" cy="228600"/>
          </a:xfrm>
          <a:prstGeom prst="rect">
            <a:avLst/>
          </a:prstGeom>
          <a:noFill/>
          <a:ln/>
        </p:spPr>
        <p:txBody>
          <a:bodyPr wrap="square" lIns="0" tIns="0" rIns="0" bIns="0" rtlCol="0" anchor="ctr"/>
          <a:lstStyle/>
          <a:p>
            <a:pPr marL="0" indent="0">
              <a:buNone/>
            </a:pPr>
            <a:r>
              <a:rPr lang="en-US" sz="900" b="1" kern="0" spc="100" dirty="0">
                <a:solidFill>
                  <a:srgbClr val="22D3EE"/>
                </a:solidFill>
                <a:latin typeface="Calibri" pitchFamily="34" charset="0"/>
                <a:ea typeface="Calibri" pitchFamily="34" charset="-122"/>
                <a:cs typeface="Calibri" pitchFamily="34" charset="-120"/>
              </a:rPr>
              <a:t>PHASE 3</a:t>
            </a:r>
            <a:endParaRPr lang="en-US" sz="900" dirty="0"/>
          </a:p>
        </p:txBody>
      </p:sp>
      <p:sp>
        <p:nvSpPr>
          <p:cNvPr id="26" name="Text 23"/>
          <p:cNvSpPr/>
          <p:nvPr/>
        </p:nvSpPr>
        <p:spPr>
          <a:xfrm>
            <a:off x="5262372" y="2953512"/>
            <a:ext cx="1636776" cy="59436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Dynamic SLA</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Routing</a:t>
            </a:r>
            <a:endParaRPr lang="en-US" sz="1300" dirty="0"/>
          </a:p>
        </p:txBody>
      </p:sp>
      <p:sp>
        <p:nvSpPr>
          <p:cNvPr id="27" name="Text 24"/>
          <p:cNvSpPr/>
          <p:nvPr/>
        </p:nvSpPr>
        <p:spPr>
          <a:xfrm>
            <a:off x="5262372" y="3611880"/>
            <a:ext cx="1636776" cy="1965960"/>
          </a:xfrm>
          <a:prstGeom prst="rect">
            <a:avLst/>
          </a:prstGeom>
          <a:noFill/>
          <a:ln/>
        </p:spPr>
        <p:txBody>
          <a:bodyPr wrap="square" lIns="0" tIns="0" rIns="0" bIns="0" rtlCol="0" anchor="t"/>
          <a:lstStyle/>
          <a:p>
            <a:pPr marL="0" indent="0">
              <a:buNone/>
            </a:pPr>
            <a:r>
              <a:rPr lang="en-US" sz="950" dirty="0">
                <a:solidFill>
                  <a:srgbClr val="8CA0BC"/>
                </a:solidFill>
                <a:latin typeface="Calibri" pitchFamily="34" charset="0"/>
                <a:ea typeface="Calibri" pitchFamily="34" charset="-122"/>
                <a:cs typeface="Calibri" pitchFamily="34" charset="-120"/>
              </a:rPr>
              <a:t>Shuffle Multi-Path Split node to assign severity by rule ID and map accurate SLA timers.</a:t>
            </a:r>
            <a:endParaRPr lang="en-US" sz="950" dirty="0"/>
          </a:p>
        </p:txBody>
      </p:sp>
      <p:sp>
        <p:nvSpPr>
          <p:cNvPr id="28" name="Shape 25"/>
          <p:cNvSpPr/>
          <p:nvPr/>
        </p:nvSpPr>
        <p:spPr>
          <a:xfrm>
            <a:off x="7930134" y="1975104"/>
            <a:ext cx="347472" cy="347472"/>
          </a:xfrm>
          <a:prstGeom prst="ellipse">
            <a:avLst/>
          </a:prstGeom>
          <a:solidFill>
            <a:srgbClr val="16233B"/>
          </a:solidFill>
          <a:ln w="25400">
            <a:solidFill>
              <a:srgbClr val="22D3EE"/>
            </a:solidFill>
            <a:prstDash val="solid"/>
          </a:ln>
        </p:spPr>
        <p:txBody>
          <a:bodyPr/>
          <a:lstStyle/>
          <a:p>
            <a:endParaRPr lang="en-US"/>
          </a:p>
        </p:txBody>
      </p:sp>
      <p:sp>
        <p:nvSpPr>
          <p:cNvPr id="29" name="Text 26"/>
          <p:cNvSpPr/>
          <p:nvPr/>
        </p:nvSpPr>
        <p:spPr>
          <a:xfrm>
            <a:off x="7930134" y="1975104"/>
            <a:ext cx="347472" cy="347472"/>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4</a:t>
            </a:r>
            <a:endParaRPr lang="en-US" sz="1200" dirty="0"/>
          </a:p>
        </p:txBody>
      </p:sp>
      <p:sp>
        <p:nvSpPr>
          <p:cNvPr id="30" name="Shape 27"/>
          <p:cNvSpPr/>
          <p:nvPr/>
        </p:nvSpPr>
        <p:spPr>
          <a:xfrm>
            <a:off x="8103870" y="2322576"/>
            <a:ext cx="0" cy="192024"/>
          </a:xfrm>
          <a:prstGeom prst="line">
            <a:avLst/>
          </a:prstGeom>
          <a:noFill/>
          <a:ln w="12700">
            <a:solidFill>
              <a:srgbClr val="22314D"/>
            </a:solidFill>
            <a:prstDash val="dash"/>
          </a:ln>
        </p:spPr>
        <p:txBody>
          <a:bodyPr/>
          <a:lstStyle/>
          <a:p>
            <a:endParaRPr lang="en-US"/>
          </a:p>
        </p:txBody>
      </p:sp>
      <p:sp>
        <p:nvSpPr>
          <p:cNvPr id="31" name="Shape 28"/>
          <p:cNvSpPr/>
          <p:nvPr/>
        </p:nvSpPr>
        <p:spPr>
          <a:xfrm>
            <a:off x="7120890" y="2514600"/>
            <a:ext cx="1965960" cy="3246120"/>
          </a:xfrm>
          <a:prstGeom prst="roundRect">
            <a:avLst>
              <a:gd name="adj" fmla="val 279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32" name="Text 29"/>
          <p:cNvSpPr/>
          <p:nvPr/>
        </p:nvSpPr>
        <p:spPr>
          <a:xfrm>
            <a:off x="7285482" y="2697480"/>
            <a:ext cx="1636776" cy="228600"/>
          </a:xfrm>
          <a:prstGeom prst="rect">
            <a:avLst/>
          </a:prstGeom>
          <a:noFill/>
          <a:ln/>
        </p:spPr>
        <p:txBody>
          <a:bodyPr wrap="square" lIns="0" tIns="0" rIns="0" bIns="0" rtlCol="0" anchor="ctr"/>
          <a:lstStyle/>
          <a:p>
            <a:pPr marL="0" indent="0">
              <a:buNone/>
            </a:pPr>
            <a:r>
              <a:rPr lang="en-US" sz="900" b="1" kern="0" spc="100" dirty="0">
                <a:solidFill>
                  <a:srgbClr val="22D3EE"/>
                </a:solidFill>
                <a:latin typeface="Calibri" pitchFamily="34" charset="0"/>
                <a:ea typeface="Calibri" pitchFamily="34" charset="-122"/>
                <a:cs typeface="Calibri" pitchFamily="34" charset="-120"/>
              </a:rPr>
              <a:t>PHASE 4</a:t>
            </a:r>
            <a:endParaRPr lang="en-US" sz="900" dirty="0"/>
          </a:p>
        </p:txBody>
      </p:sp>
      <p:sp>
        <p:nvSpPr>
          <p:cNvPr id="33" name="Text 30"/>
          <p:cNvSpPr/>
          <p:nvPr/>
        </p:nvSpPr>
        <p:spPr>
          <a:xfrm>
            <a:off x="7285482" y="2953512"/>
            <a:ext cx="1636776" cy="59436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Continuous</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Validation</a:t>
            </a:r>
            <a:endParaRPr lang="en-US" sz="1300" dirty="0"/>
          </a:p>
        </p:txBody>
      </p:sp>
      <p:sp>
        <p:nvSpPr>
          <p:cNvPr id="34" name="Text 31"/>
          <p:cNvSpPr/>
          <p:nvPr/>
        </p:nvSpPr>
        <p:spPr>
          <a:xfrm>
            <a:off x="7285482" y="3611880"/>
            <a:ext cx="1636776" cy="1965960"/>
          </a:xfrm>
          <a:prstGeom prst="rect">
            <a:avLst/>
          </a:prstGeom>
          <a:noFill/>
          <a:ln/>
        </p:spPr>
        <p:txBody>
          <a:bodyPr wrap="square" lIns="0" tIns="0" rIns="0" bIns="0" rtlCol="0" anchor="t"/>
          <a:lstStyle/>
          <a:p>
            <a:pPr marL="0" indent="0">
              <a:buNone/>
            </a:pPr>
            <a:r>
              <a:rPr lang="en-US" sz="950" dirty="0">
                <a:solidFill>
                  <a:srgbClr val="8CA0BC"/>
                </a:solidFill>
                <a:latin typeface="Calibri" pitchFamily="34" charset="0"/>
                <a:ea typeface="Calibri" pitchFamily="34" charset="-122"/>
                <a:cs typeface="Calibri" pitchFamily="34" charset="-120"/>
              </a:rPr>
              <a:t>Weekly Invoke-AtomicTest cron jobs; flag a Detection Gap if Wazuh misses a 5-minute window.</a:t>
            </a:r>
            <a:endParaRPr lang="en-US" sz="950" dirty="0"/>
          </a:p>
        </p:txBody>
      </p:sp>
      <p:sp>
        <p:nvSpPr>
          <p:cNvPr id="35" name="Shape 32"/>
          <p:cNvSpPr/>
          <p:nvPr/>
        </p:nvSpPr>
        <p:spPr>
          <a:xfrm>
            <a:off x="9953244" y="1975104"/>
            <a:ext cx="347472" cy="347472"/>
          </a:xfrm>
          <a:prstGeom prst="ellipse">
            <a:avLst/>
          </a:prstGeom>
          <a:solidFill>
            <a:srgbClr val="16233B"/>
          </a:solidFill>
          <a:ln w="25400">
            <a:solidFill>
              <a:srgbClr val="22D3EE"/>
            </a:solidFill>
            <a:prstDash val="solid"/>
          </a:ln>
        </p:spPr>
        <p:txBody>
          <a:bodyPr/>
          <a:lstStyle/>
          <a:p>
            <a:endParaRPr lang="en-US"/>
          </a:p>
        </p:txBody>
      </p:sp>
      <p:sp>
        <p:nvSpPr>
          <p:cNvPr id="36" name="Text 33"/>
          <p:cNvSpPr/>
          <p:nvPr/>
        </p:nvSpPr>
        <p:spPr>
          <a:xfrm>
            <a:off x="9953244" y="1975104"/>
            <a:ext cx="347472" cy="347472"/>
          </a:xfrm>
          <a:prstGeom prst="rect">
            <a:avLst/>
          </a:prstGeom>
          <a:noFill/>
          <a:ln/>
        </p:spPr>
        <p:txBody>
          <a:bodyPr wrap="square" lIns="0" tIns="0" rIns="0" bIns="0" rtlCol="0" anchor="ctr"/>
          <a:lstStyle/>
          <a:p>
            <a:pPr marL="0" indent="0" algn="ctr">
              <a:buNone/>
            </a:pPr>
            <a:r>
              <a:rPr lang="en-US" sz="1200" b="1" dirty="0">
                <a:solidFill>
                  <a:srgbClr val="22D3EE"/>
                </a:solidFill>
                <a:latin typeface="Calibri" pitchFamily="34" charset="0"/>
                <a:ea typeface="Calibri" pitchFamily="34" charset="-122"/>
                <a:cs typeface="Calibri" pitchFamily="34" charset="-120"/>
              </a:rPr>
              <a:t>5</a:t>
            </a:r>
            <a:endParaRPr lang="en-US" sz="1200" dirty="0"/>
          </a:p>
        </p:txBody>
      </p:sp>
      <p:sp>
        <p:nvSpPr>
          <p:cNvPr id="37" name="Shape 34"/>
          <p:cNvSpPr/>
          <p:nvPr/>
        </p:nvSpPr>
        <p:spPr>
          <a:xfrm>
            <a:off x="10126980" y="2322576"/>
            <a:ext cx="0" cy="192024"/>
          </a:xfrm>
          <a:prstGeom prst="line">
            <a:avLst/>
          </a:prstGeom>
          <a:noFill/>
          <a:ln w="12700">
            <a:solidFill>
              <a:srgbClr val="22314D"/>
            </a:solidFill>
            <a:prstDash val="dash"/>
          </a:ln>
        </p:spPr>
        <p:txBody>
          <a:bodyPr/>
          <a:lstStyle/>
          <a:p>
            <a:endParaRPr lang="en-US"/>
          </a:p>
        </p:txBody>
      </p:sp>
      <p:sp>
        <p:nvSpPr>
          <p:cNvPr id="38" name="Shape 35"/>
          <p:cNvSpPr/>
          <p:nvPr/>
        </p:nvSpPr>
        <p:spPr>
          <a:xfrm>
            <a:off x="9144000" y="2514600"/>
            <a:ext cx="1965960" cy="3246120"/>
          </a:xfrm>
          <a:prstGeom prst="roundRect">
            <a:avLst>
              <a:gd name="adj" fmla="val 2791"/>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39" name="Text 36"/>
          <p:cNvSpPr/>
          <p:nvPr/>
        </p:nvSpPr>
        <p:spPr>
          <a:xfrm>
            <a:off x="9308592" y="2697480"/>
            <a:ext cx="1636776" cy="228600"/>
          </a:xfrm>
          <a:prstGeom prst="rect">
            <a:avLst/>
          </a:prstGeom>
          <a:noFill/>
          <a:ln/>
        </p:spPr>
        <p:txBody>
          <a:bodyPr wrap="square" lIns="0" tIns="0" rIns="0" bIns="0" rtlCol="0" anchor="ctr"/>
          <a:lstStyle/>
          <a:p>
            <a:pPr marL="0" indent="0">
              <a:buNone/>
            </a:pPr>
            <a:r>
              <a:rPr lang="en-US" sz="900" b="1" kern="0" spc="100" dirty="0">
                <a:solidFill>
                  <a:srgbClr val="22D3EE"/>
                </a:solidFill>
                <a:latin typeface="Calibri" pitchFamily="34" charset="0"/>
                <a:ea typeface="Calibri" pitchFamily="34" charset="-122"/>
                <a:cs typeface="Calibri" pitchFamily="34" charset="-120"/>
              </a:rPr>
              <a:t>PHASE 5</a:t>
            </a:r>
            <a:endParaRPr lang="en-US" sz="900" dirty="0"/>
          </a:p>
        </p:txBody>
      </p:sp>
      <p:sp>
        <p:nvSpPr>
          <p:cNvPr id="40" name="Text 37"/>
          <p:cNvSpPr/>
          <p:nvPr/>
        </p:nvSpPr>
        <p:spPr>
          <a:xfrm>
            <a:off x="9308592" y="2953512"/>
            <a:ext cx="1636776" cy="594360"/>
          </a:xfrm>
          <a:prstGeom prst="rect">
            <a:avLst/>
          </a:prstGeom>
          <a:noFill/>
          <a:ln/>
        </p:spPr>
        <p:txBody>
          <a:bodyPr wrap="square" lIns="0" tIns="0" rIns="0" bIns="0"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Metrics</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Dashboard</a:t>
            </a:r>
            <a:endParaRPr lang="en-US" sz="1300" dirty="0"/>
          </a:p>
        </p:txBody>
      </p:sp>
      <p:sp>
        <p:nvSpPr>
          <p:cNvPr id="41" name="Text 38"/>
          <p:cNvSpPr/>
          <p:nvPr/>
        </p:nvSpPr>
        <p:spPr>
          <a:xfrm>
            <a:off x="9308592" y="3611880"/>
            <a:ext cx="1636776" cy="1965960"/>
          </a:xfrm>
          <a:prstGeom prst="rect">
            <a:avLst/>
          </a:prstGeom>
          <a:noFill/>
          <a:ln/>
        </p:spPr>
        <p:txBody>
          <a:bodyPr wrap="square" lIns="0" tIns="0" rIns="0" bIns="0" rtlCol="0" anchor="t"/>
          <a:lstStyle/>
          <a:p>
            <a:pPr marL="0" indent="0">
              <a:buNone/>
            </a:pPr>
            <a:r>
              <a:rPr lang="en-US" sz="950" dirty="0">
                <a:solidFill>
                  <a:srgbClr val="8CA0BC"/>
                </a:solidFill>
                <a:latin typeface="Calibri" pitchFamily="34" charset="0"/>
                <a:ea typeface="Calibri" pitchFamily="34" charset="-122"/>
                <a:cs typeface="Calibri" pitchFamily="34" charset="-120"/>
              </a:rPr>
              <a:t>Report MTTD, MTTR per severity tier, and False Positive Rate (FPR).</a:t>
            </a:r>
            <a:endParaRPr lang="en-US" sz="950" dirty="0"/>
          </a:p>
        </p:txBody>
      </p:sp>
      <p:sp>
        <p:nvSpPr>
          <p:cNvPr id="42" name="Text 39"/>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43" name="Text 40"/>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15</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6233B"/>
          </a:solidFill>
          <a:ln w="12700">
            <a:solidFill>
              <a:srgbClr val="22314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0321" y="604601"/>
            <a:ext cx="272125" cy="272125"/>
          </a:xfrm>
          <a:prstGeom prst="rect">
            <a:avLst/>
          </a:prstGeom>
        </p:spPr>
      </p:pic>
      <p:sp>
        <p:nvSpPr>
          <p:cNvPr id="4" name="Text 1"/>
          <p:cNvSpPr/>
          <p:nvPr/>
        </p:nvSpPr>
        <p:spPr>
          <a:xfrm>
            <a:off x="1234440" y="438912"/>
            <a:ext cx="7315200" cy="274320"/>
          </a:xfrm>
          <a:prstGeom prst="rect">
            <a:avLst/>
          </a:prstGeom>
          <a:noFill/>
          <a:ln/>
        </p:spPr>
        <p:txBody>
          <a:bodyPr wrap="square" lIns="0" tIns="0" rIns="0" bIns="0"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SUMMARY</a:t>
            </a:r>
            <a:endParaRPr lang="en-US" sz="1200" dirty="0"/>
          </a:p>
        </p:txBody>
      </p:sp>
      <p:sp>
        <p:nvSpPr>
          <p:cNvPr id="5" name="Text 2"/>
          <p:cNvSpPr/>
          <p:nvPr/>
        </p:nvSpPr>
        <p:spPr>
          <a:xfrm>
            <a:off x="1234440" y="676656"/>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6" name="Shape 3"/>
          <p:cNvSpPr/>
          <p:nvPr/>
        </p:nvSpPr>
        <p:spPr>
          <a:xfrm>
            <a:off x="502920" y="1600200"/>
            <a:ext cx="11155680" cy="2011680"/>
          </a:xfrm>
          <a:prstGeom prst="roundRect">
            <a:avLst>
              <a:gd name="adj" fmla="val 2727"/>
            </a:avLst>
          </a:prstGeom>
          <a:solidFill>
            <a:srgbClr val="121D31"/>
          </a:solidFill>
          <a:ln/>
          <a:effectLst>
            <a:outerShdw blurRad="101600" dist="38100" dir="5400000" algn="bl" rotWithShape="0">
              <a:srgbClr val="000000">
                <a:alpha val="25000"/>
              </a:srgbClr>
            </a:outerShdw>
          </a:effectLst>
        </p:spPr>
        <p:txBody>
          <a:bodyPr/>
          <a:lstStyle/>
          <a:p>
            <a:endParaRPr lang="en-US"/>
          </a:p>
        </p:txBody>
      </p:sp>
      <p:sp>
        <p:nvSpPr>
          <p:cNvPr id="7" name="Text 4"/>
          <p:cNvSpPr/>
          <p:nvPr/>
        </p:nvSpPr>
        <p:spPr>
          <a:xfrm>
            <a:off x="868680" y="1828800"/>
            <a:ext cx="10424160" cy="1554480"/>
          </a:xfrm>
          <a:prstGeom prst="rect">
            <a:avLst/>
          </a:prstGeom>
          <a:noFill/>
          <a:ln/>
        </p:spPr>
        <p:txBody>
          <a:bodyPr wrap="square" lIns="0" tIns="0" rIns="0" bIns="0" rtlCol="0" anchor="ctr"/>
          <a:lstStyle/>
          <a:p>
            <a:pPr marL="0" indent="0">
              <a:buNone/>
            </a:pPr>
            <a:r>
              <a:rPr lang="en-US" sz="1900" dirty="0">
                <a:solidFill>
                  <a:srgbClr val="FFFFFF"/>
                </a:solidFill>
                <a:latin typeface="Cambria" pitchFamily="34" charset="0"/>
                <a:ea typeface="Cambria" pitchFamily="34" charset="-122"/>
                <a:cs typeface="Cambria" pitchFamily="34" charset="-120"/>
              </a:rPr>
              <a:t>A fully operational, open-source SOC pipeline — engineered end-to-end within a strict 16 GB hardware budget.</a:t>
            </a:r>
            <a:endParaRPr lang="en-US" sz="1900" dirty="0"/>
          </a:p>
        </p:txBody>
      </p:sp>
      <p:sp>
        <p:nvSpPr>
          <p:cNvPr id="8" name="Shape 5"/>
          <p:cNvSpPr/>
          <p:nvPr/>
        </p:nvSpPr>
        <p:spPr>
          <a:xfrm>
            <a:off x="502920" y="3886200"/>
            <a:ext cx="402336" cy="402336"/>
          </a:xfrm>
          <a:prstGeom prst="ellipse">
            <a:avLst/>
          </a:prstGeom>
          <a:solidFill>
            <a:srgbClr val="16233B"/>
          </a:solidFill>
          <a:ln w="12700">
            <a:solidFill>
              <a:srgbClr val="22314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07527" y="3990807"/>
            <a:ext cx="193121" cy="193121"/>
          </a:xfrm>
          <a:prstGeom prst="rect">
            <a:avLst/>
          </a:prstGeom>
        </p:spPr>
      </p:pic>
      <p:sp>
        <p:nvSpPr>
          <p:cNvPr id="10" name="Text 6"/>
          <p:cNvSpPr/>
          <p:nvPr/>
        </p:nvSpPr>
        <p:spPr>
          <a:xfrm>
            <a:off x="1097280" y="3867912"/>
            <a:ext cx="10424160" cy="457200"/>
          </a:xfrm>
          <a:prstGeom prst="rect">
            <a:avLst/>
          </a:prstGeom>
          <a:noFill/>
          <a:ln/>
        </p:spPr>
        <p:txBody>
          <a:bodyPr wrap="square" lIns="0" tIns="0" rIns="0" bIns="0" rtlCol="0" anchor="ctr"/>
          <a:lstStyle/>
          <a:p>
            <a:pPr marL="0" indent="0">
              <a:buNone/>
            </a:pPr>
            <a:r>
              <a:rPr lang="en-US" sz="1350" dirty="0">
                <a:solidFill>
                  <a:srgbClr val="E8EEF5"/>
                </a:solidFill>
                <a:latin typeface="Calibri" pitchFamily="34" charset="0"/>
                <a:ea typeface="Calibri" pitchFamily="34" charset="-122"/>
                <a:cs typeface="Calibri" pitchFamily="34" charset="-120"/>
              </a:rPr>
              <a:t>Detection → enrichment → case management runs automatically, end to end.</a:t>
            </a:r>
            <a:endParaRPr lang="en-US" sz="1350" dirty="0"/>
          </a:p>
        </p:txBody>
      </p:sp>
      <p:sp>
        <p:nvSpPr>
          <p:cNvPr id="11" name="Shape 7"/>
          <p:cNvSpPr/>
          <p:nvPr/>
        </p:nvSpPr>
        <p:spPr>
          <a:xfrm>
            <a:off x="502920" y="4544568"/>
            <a:ext cx="402336" cy="402336"/>
          </a:xfrm>
          <a:prstGeom prst="ellipse">
            <a:avLst/>
          </a:prstGeom>
          <a:solidFill>
            <a:srgbClr val="16233B"/>
          </a:solidFill>
          <a:ln w="12700">
            <a:solidFill>
              <a:srgbClr val="22314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607527" y="4649175"/>
            <a:ext cx="193121" cy="193121"/>
          </a:xfrm>
          <a:prstGeom prst="rect">
            <a:avLst/>
          </a:prstGeom>
        </p:spPr>
      </p:pic>
      <p:sp>
        <p:nvSpPr>
          <p:cNvPr id="13" name="Text 8"/>
          <p:cNvSpPr/>
          <p:nvPr/>
        </p:nvSpPr>
        <p:spPr>
          <a:xfrm>
            <a:off x="1097280" y="4526280"/>
            <a:ext cx="10424160" cy="457200"/>
          </a:xfrm>
          <a:prstGeom prst="rect">
            <a:avLst/>
          </a:prstGeom>
          <a:noFill/>
          <a:ln/>
        </p:spPr>
        <p:txBody>
          <a:bodyPr wrap="square" lIns="0" tIns="0" rIns="0" bIns="0" rtlCol="0" anchor="ctr"/>
          <a:lstStyle/>
          <a:p>
            <a:pPr marL="0" indent="0">
              <a:buNone/>
            </a:pPr>
            <a:r>
              <a:rPr lang="en-US" sz="1350" dirty="0">
                <a:solidFill>
                  <a:srgbClr val="E8EEF5"/>
                </a:solidFill>
                <a:latin typeface="Calibri" pitchFamily="34" charset="0"/>
                <a:ea typeface="Calibri" pitchFamily="34" charset="-122"/>
                <a:cs typeface="Calibri" pitchFamily="34" charset="-120"/>
              </a:rPr>
              <a:t>Real engineering tradeoffs — storage limits, JSON parsing, SSL certs, connector bugs — solved, not avoided.</a:t>
            </a:r>
            <a:endParaRPr lang="en-US" sz="1350" dirty="0"/>
          </a:p>
        </p:txBody>
      </p:sp>
      <p:sp>
        <p:nvSpPr>
          <p:cNvPr id="14" name="Shape 9"/>
          <p:cNvSpPr/>
          <p:nvPr/>
        </p:nvSpPr>
        <p:spPr>
          <a:xfrm>
            <a:off x="502920" y="5202936"/>
            <a:ext cx="402336" cy="402336"/>
          </a:xfrm>
          <a:prstGeom prst="ellipse">
            <a:avLst/>
          </a:prstGeom>
          <a:solidFill>
            <a:srgbClr val="16233B"/>
          </a:solidFill>
          <a:ln w="12700">
            <a:solidFill>
              <a:srgbClr val="22314D"/>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607527" y="5307543"/>
            <a:ext cx="193121" cy="193121"/>
          </a:xfrm>
          <a:prstGeom prst="rect">
            <a:avLst/>
          </a:prstGeom>
        </p:spPr>
      </p:pic>
      <p:sp>
        <p:nvSpPr>
          <p:cNvPr id="16" name="Text 10"/>
          <p:cNvSpPr/>
          <p:nvPr/>
        </p:nvSpPr>
        <p:spPr>
          <a:xfrm>
            <a:off x="1097280" y="5184648"/>
            <a:ext cx="10424160" cy="457200"/>
          </a:xfrm>
          <a:prstGeom prst="rect">
            <a:avLst/>
          </a:prstGeom>
          <a:noFill/>
          <a:ln/>
        </p:spPr>
        <p:txBody>
          <a:bodyPr wrap="square" lIns="0" tIns="0" rIns="0" bIns="0" rtlCol="0" anchor="ctr"/>
          <a:lstStyle/>
          <a:p>
            <a:pPr marL="0" indent="0">
              <a:buNone/>
            </a:pPr>
            <a:r>
              <a:rPr lang="en-US" sz="1350" dirty="0">
                <a:solidFill>
                  <a:srgbClr val="E8EEF5"/>
                </a:solidFill>
                <a:latin typeface="Calibri" pitchFamily="34" charset="0"/>
                <a:ea typeface="Calibri" pitchFamily="34" charset="-122"/>
                <a:cs typeface="Calibri" pitchFamily="34" charset="-120"/>
              </a:rPr>
              <a:t>Every custom rule maps to MITRE ATT&amp;CK, with an SLA matrix driving response priority.</a:t>
            </a:r>
            <a:endParaRPr lang="en-US" sz="1350" dirty="0"/>
          </a:p>
        </p:txBody>
      </p:sp>
      <p:sp>
        <p:nvSpPr>
          <p:cNvPr id="17" name="Text 11"/>
          <p:cNvSpPr/>
          <p:nvPr/>
        </p:nvSpPr>
        <p:spPr>
          <a:xfrm>
            <a:off x="502920" y="6528816"/>
            <a:ext cx="4572000" cy="256032"/>
          </a:xfrm>
          <a:prstGeom prst="rect">
            <a:avLst/>
          </a:prstGeom>
          <a:noFill/>
          <a:ln/>
        </p:spPr>
        <p:txBody>
          <a:bodyPr wrap="square" lIns="0" tIns="0" rIns="0" bIns="0" rtlCol="0" anchor="ctr"/>
          <a:lstStyle/>
          <a:p>
            <a:pPr marL="0" indent="0">
              <a:buNone/>
            </a:pPr>
            <a:r>
              <a:rPr lang="en-US" sz="900" kern="0" spc="100" dirty="0">
                <a:solidFill>
                  <a:srgbClr val="5B7089"/>
                </a:solidFill>
                <a:latin typeface="Calibri" pitchFamily="34" charset="0"/>
                <a:ea typeface="Calibri" pitchFamily="34" charset="-122"/>
                <a:cs typeface="Calibri" pitchFamily="34" charset="-120"/>
              </a:rPr>
              <a:t>OPEN-SOURCE SOC PIPELINE</a:t>
            </a:r>
            <a:endParaRPr lang="en-US" sz="900" dirty="0"/>
          </a:p>
        </p:txBody>
      </p:sp>
      <p:sp>
        <p:nvSpPr>
          <p:cNvPr id="18" name="Text 12"/>
          <p:cNvSpPr/>
          <p:nvPr/>
        </p:nvSpPr>
        <p:spPr>
          <a:xfrm>
            <a:off x="11338560" y="6528816"/>
            <a:ext cx="411480" cy="256032"/>
          </a:xfrm>
          <a:prstGeom prst="rect">
            <a:avLst/>
          </a:prstGeom>
          <a:noFill/>
          <a:ln/>
        </p:spPr>
        <p:txBody>
          <a:bodyPr wrap="square" lIns="0" tIns="0" rIns="0" bIns="0" rtlCol="0" anchor="ctr"/>
          <a:lstStyle/>
          <a:p>
            <a:pPr marL="0" indent="0" algn="r">
              <a:buNone/>
            </a:pPr>
            <a:r>
              <a:rPr lang="en-US" sz="900" dirty="0">
                <a:solidFill>
                  <a:srgbClr val="5B7089"/>
                </a:solidFill>
                <a:latin typeface="Calibri" pitchFamily="34" charset="0"/>
                <a:ea typeface="Calibri" pitchFamily="34" charset="-122"/>
                <a:cs typeface="Calibri" pitchFamily="34" charset="-120"/>
              </a:rPr>
              <a:t>16</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3181</Words>
  <Application>Microsoft Office PowerPoint</Application>
  <PresentationFormat>Widescreen</PresentationFormat>
  <Paragraphs>310</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Open-Source SOC Pipeline</dc:title>
  <dc:subject>PptxGenJS Presentation</dc:subject>
  <dc:creator>Zeyad</dc:creator>
  <cp:lastModifiedBy>Zeyad Saad</cp:lastModifiedBy>
  <cp:revision>2</cp:revision>
  <dcterms:created xsi:type="dcterms:W3CDTF">2026-07-04T10:42:07Z</dcterms:created>
  <dcterms:modified xsi:type="dcterms:W3CDTF">2026-07-04T10:46:47Z</dcterms:modified>
</cp:coreProperties>
</file>